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Garamond" panose="02020404030301010803" pitchFamily="18" charset="0"/>
      <p:regular r:id="rId14"/>
      <p:bold r:id="rId15"/>
      <p:italic r:id="rId16"/>
    </p:embeddedFont>
    <p:embeddedFont>
      <p:font typeface="Gelasio" panose="020B0604020202020204" charset="0"/>
      <p:regular r:id="rId17"/>
    </p:embeddedFont>
    <p:embeddedFont>
      <p:font typeface="Lato" panose="020F0502020204030203" pitchFamily="3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29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01771" y="2180862"/>
            <a:ext cx="7556421" cy="1240155"/>
          </a:xfrm>
          <a:prstGeom prst="rect">
            <a:avLst/>
          </a:prstGeom>
          <a:noFill/>
          <a:ln/>
        </p:spPr>
        <p:txBody>
          <a:bodyPr wrap="square" lIns="0" tIns="0" rIns="0" bIns="0" rtlCol="0" anchor="t"/>
          <a:lstStyle/>
          <a:p>
            <a:pPr marL="0" indent="0" algn="l">
              <a:lnSpc>
                <a:spcPts val="4850"/>
              </a:lnSpc>
              <a:buNone/>
            </a:pPr>
            <a:r>
              <a:rPr lang="en-US" sz="4800" b="1" dirty="0">
                <a:solidFill>
                  <a:srgbClr val="312F2B"/>
                </a:solidFill>
                <a:latin typeface="Garamond" panose="02020404030301010803" pitchFamily="18" charset="0"/>
                <a:ea typeface="Gelasio" pitchFamily="34" charset="-122"/>
                <a:cs typeface="Gelasio" pitchFamily="34" charset="-120"/>
              </a:rPr>
              <a:t>Heart Disease Prediction Using Logistic Regression</a:t>
            </a:r>
            <a:endParaRPr lang="en-US" sz="4800" b="1" dirty="0">
              <a:latin typeface="Garamond" panose="02020404030301010803" pitchFamily="18" charset="0"/>
            </a:endParaRPr>
          </a:p>
        </p:txBody>
      </p:sp>
      <p:sp>
        <p:nvSpPr>
          <p:cNvPr id="4" name="Text 1"/>
          <p:cNvSpPr/>
          <p:nvPr/>
        </p:nvSpPr>
        <p:spPr>
          <a:xfrm>
            <a:off x="6280190" y="4566166"/>
            <a:ext cx="7556421" cy="635079"/>
          </a:xfrm>
          <a:prstGeom prst="rect">
            <a:avLst/>
          </a:prstGeom>
          <a:noFill/>
          <a:ln/>
        </p:spPr>
        <p:txBody>
          <a:bodyPr wrap="square" lIns="0" tIns="0" rIns="0" bIns="0" rtlCol="0" anchor="t"/>
          <a:lstStyle/>
          <a:p>
            <a:pPr marL="0" indent="0" algn="l">
              <a:lnSpc>
                <a:spcPts val="2500"/>
              </a:lnSpc>
              <a:buNone/>
            </a:pPr>
            <a:r>
              <a:rPr lang="en-US" sz="2400" dirty="0">
                <a:solidFill>
                  <a:srgbClr val="272525"/>
                </a:solidFill>
                <a:latin typeface="Garamond" panose="02020404030301010803" pitchFamily="18" charset="0"/>
                <a:ea typeface="Lato" pitchFamily="34" charset="-122"/>
                <a:cs typeface="Lato" pitchFamily="34" charset="-120"/>
              </a:rPr>
              <a:t>Predicting the likelihood of heart disease using clinical parameters and machine learning techniques</a:t>
            </a:r>
            <a:endParaRPr lang="en-US" sz="2400" dirty="0">
              <a:latin typeface="Garamond" panose="02020404030301010803" pitchFamily="18" charset="0"/>
            </a:endParaRPr>
          </a:p>
        </p:txBody>
      </p:sp>
      <p:pic>
        <p:nvPicPr>
          <p:cNvPr id="6" name="Picture 5">
            <a:extLst>
              <a:ext uri="{FF2B5EF4-FFF2-40B4-BE49-F238E27FC236}">
                <a16:creationId xmlns:a16="http://schemas.microsoft.com/office/drawing/2014/main" id="{2B52E0B1-36CD-ABCB-13AD-18EF6AB84BF5}"/>
              </a:ext>
            </a:extLst>
          </p:cNvPr>
          <p:cNvPicPr>
            <a:picLocks noChangeAspect="1"/>
          </p:cNvPicPr>
          <p:nvPr/>
        </p:nvPicPr>
        <p:blipFill>
          <a:blip r:embed="rId4"/>
          <a:stretch>
            <a:fillRect/>
          </a:stretch>
        </p:blipFill>
        <p:spPr>
          <a:xfrm>
            <a:off x="12645817" y="7382107"/>
            <a:ext cx="1984583" cy="847493"/>
          </a:xfrm>
          <a:prstGeom prst="rect">
            <a:avLst/>
          </a:prstGeom>
        </p:spPr>
      </p:pic>
      <p:sp>
        <p:nvSpPr>
          <p:cNvPr id="5" name="TextBox 4">
            <a:extLst>
              <a:ext uri="{FF2B5EF4-FFF2-40B4-BE49-F238E27FC236}">
                <a16:creationId xmlns:a16="http://schemas.microsoft.com/office/drawing/2014/main" id="{CB8314FD-90EB-1032-3495-A9B4FCF3884C}"/>
              </a:ext>
            </a:extLst>
          </p:cNvPr>
          <p:cNvSpPr txBox="1"/>
          <p:nvPr/>
        </p:nvSpPr>
        <p:spPr>
          <a:xfrm rot="10800000" flipH="1" flipV="1">
            <a:off x="6286502" y="6235313"/>
            <a:ext cx="4808961" cy="923330"/>
          </a:xfrm>
          <a:prstGeom prst="rect">
            <a:avLst/>
          </a:prstGeom>
          <a:noFill/>
        </p:spPr>
        <p:txBody>
          <a:bodyPr wrap="square" rtlCol="0">
            <a:spAutoFit/>
          </a:bodyPr>
          <a:lstStyle/>
          <a:p>
            <a:r>
              <a:rPr lang="en-IN" dirty="0">
                <a:latin typeface="Garamond" panose="02020404030301010803" pitchFamily="18" charset="0"/>
              </a:rPr>
              <a:t>Created By</a:t>
            </a:r>
          </a:p>
          <a:p>
            <a:r>
              <a:rPr lang="en-IN" dirty="0">
                <a:latin typeface="Garamond" panose="02020404030301010803" pitchFamily="18" charset="0"/>
              </a:rPr>
              <a:t>Dhwani Chauhan </a:t>
            </a:r>
          </a:p>
          <a:p>
            <a:r>
              <a:rPr lang="en-IN" dirty="0">
                <a:latin typeface="Garamond" panose="02020404030301010803" pitchFamily="18" charset="0"/>
              </a:rPr>
              <a:t>Techno India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6496" y="368737"/>
            <a:ext cx="4382214" cy="419100"/>
          </a:xfrm>
          <a:prstGeom prst="rect">
            <a:avLst/>
          </a:prstGeom>
          <a:noFill/>
          <a:ln/>
        </p:spPr>
        <p:txBody>
          <a:bodyPr wrap="none" lIns="0" tIns="0" rIns="0" bIns="0" rtlCol="0" anchor="t"/>
          <a:lstStyle/>
          <a:p>
            <a:pPr marL="0" indent="0" algn="l">
              <a:lnSpc>
                <a:spcPts val="3300"/>
              </a:lnSpc>
              <a:buNone/>
            </a:pPr>
            <a:r>
              <a:rPr lang="en-US" sz="4000" b="1" dirty="0">
                <a:solidFill>
                  <a:srgbClr val="312F2B"/>
                </a:solidFill>
                <a:latin typeface="Garamond" panose="02020404030301010803" pitchFamily="18" charset="0"/>
                <a:ea typeface="Gelasio" pitchFamily="34" charset="-122"/>
                <a:cs typeface="Gelasio" pitchFamily="34" charset="-120"/>
              </a:rPr>
              <a:t>Understanding Heart Disease</a:t>
            </a:r>
            <a:endParaRPr lang="en-US" sz="4000" b="1" dirty="0">
              <a:latin typeface="Garamond" panose="02020404030301010803" pitchFamily="18" charset="0"/>
            </a:endParaRPr>
          </a:p>
        </p:txBody>
      </p:sp>
      <p:sp>
        <p:nvSpPr>
          <p:cNvPr id="3" name="Text 1"/>
          <p:cNvSpPr/>
          <p:nvPr/>
        </p:nvSpPr>
        <p:spPr>
          <a:xfrm>
            <a:off x="536496" y="1247067"/>
            <a:ext cx="6615113" cy="644009"/>
          </a:xfrm>
          <a:prstGeom prst="rect">
            <a:avLst/>
          </a:prstGeom>
          <a:noFill/>
          <a:ln/>
        </p:spPr>
        <p:txBody>
          <a:bodyPr wrap="square" lIns="0" tIns="0" rIns="0" bIns="0" rtlCol="0" anchor="t"/>
          <a:lstStyle/>
          <a:p>
            <a:pPr marL="0" indent="0" algn="l">
              <a:buNone/>
            </a:pPr>
            <a:r>
              <a:rPr lang="en-US" sz="2400" dirty="0">
                <a:solidFill>
                  <a:srgbClr val="272525"/>
                </a:solidFill>
                <a:latin typeface="Garamond" panose="02020404030301010803" pitchFamily="18" charset="0"/>
                <a:ea typeface="Lato" pitchFamily="34" charset="-122"/>
                <a:cs typeface="Lato" pitchFamily="34" charset="-120"/>
              </a:rPr>
              <a:t>Heart disease encompasses a range of conditions affecting the heart muscles, valves, or blood supply. The most prevalent form is coronary artery disease (CAD), which develops when plaque accumulates in the coronary arteries, restricting blood flow to the heart muscle and potentially leading to severe cardiovascular events.</a:t>
            </a:r>
            <a:endParaRPr lang="en-US" sz="2400" dirty="0">
              <a:latin typeface="Garamond" panose="02020404030301010803" pitchFamily="18" charset="0"/>
            </a:endParaRPr>
          </a:p>
        </p:txBody>
      </p:sp>
      <p:sp>
        <p:nvSpPr>
          <p:cNvPr id="4" name="Text 2"/>
          <p:cNvSpPr/>
          <p:nvPr/>
        </p:nvSpPr>
        <p:spPr>
          <a:xfrm>
            <a:off x="446233" y="4668950"/>
            <a:ext cx="1676519" cy="209550"/>
          </a:xfrm>
          <a:prstGeom prst="rect">
            <a:avLst/>
          </a:prstGeom>
          <a:noFill/>
          <a:ln/>
        </p:spPr>
        <p:txBody>
          <a:bodyPr wrap="none" lIns="0" tIns="0" rIns="0" bIns="0" rtlCol="0" anchor="t"/>
          <a:lstStyle/>
          <a:p>
            <a:pPr marL="0" indent="0" algn="l">
              <a:lnSpc>
                <a:spcPts val="1650"/>
              </a:lnSpc>
              <a:buNone/>
            </a:pPr>
            <a:r>
              <a:rPr lang="en-US" sz="2000" dirty="0">
                <a:solidFill>
                  <a:srgbClr val="312F2B"/>
                </a:solidFill>
                <a:latin typeface="Gelasio" pitchFamily="34" charset="0"/>
                <a:ea typeface="Gelasio" pitchFamily="34" charset="-122"/>
                <a:cs typeface="Gelasio" pitchFamily="34" charset="-120"/>
              </a:rPr>
              <a:t>Common Symptoms</a:t>
            </a:r>
            <a:endParaRPr lang="en-US" sz="2000" dirty="0"/>
          </a:p>
        </p:txBody>
      </p:sp>
      <p:sp>
        <p:nvSpPr>
          <p:cNvPr id="5" name="Text 3"/>
          <p:cNvSpPr/>
          <p:nvPr/>
        </p:nvSpPr>
        <p:spPr>
          <a:xfrm rot="10800000" flipV="1">
            <a:off x="446234" y="6095554"/>
            <a:ext cx="6615113" cy="209550"/>
          </a:xfrm>
          <a:prstGeom prst="rect">
            <a:avLst/>
          </a:prstGeom>
          <a:noFill/>
          <a:ln/>
        </p:spPr>
        <p:txBody>
          <a:bodyPr wrap="none" lIns="0" tIns="0" rIns="0" bIns="0" rtlCol="0" anchor="t"/>
          <a:lstStyle/>
          <a:p>
            <a:pPr marL="342900" indent="-342900" algn="l">
              <a:lnSpc>
                <a:spcPts val="1650"/>
              </a:lnSpc>
              <a:buSzPct val="100000"/>
              <a:buChar char="•"/>
            </a:pPr>
            <a:r>
              <a:rPr lang="en-US" sz="1400" dirty="0">
                <a:solidFill>
                  <a:srgbClr val="272525"/>
                </a:solidFill>
                <a:latin typeface="Lato" pitchFamily="34" charset="0"/>
                <a:ea typeface="Lato" pitchFamily="34" charset="-122"/>
                <a:cs typeface="Lato" pitchFamily="34" charset="-120"/>
              </a:rPr>
              <a:t>Chest pain or discomfort (angina)</a:t>
            </a:r>
            <a:endParaRPr lang="en-US" sz="1400" dirty="0"/>
          </a:p>
        </p:txBody>
      </p:sp>
      <p:sp>
        <p:nvSpPr>
          <p:cNvPr id="6" name="Text 4"/>
          <p:cNvSpPr/>
          <p:nvPr/>
        </p:nvSpPr>
        <p:spPr>
          <a:xfrm>
            <a:off x="439518" y="5379692"/>
            <a:ext cx="6615113" cy="214670"/>
          </a:xfrm>
          <a:prstGeom prst="rect">
            <a:avLst/>
          </a:prstGeom>
          <a:noFill/>
          <a:ln/>
        </p:spPr>
        <p:txBody>
          <a:bodyPr wrap="none" lIns="0" tIns="0" rIns="0" bIns="0" rtlCol="0" anchor="t"/>
          <a:lstStyle/>
          <a:p>
            <a:pPr marL="342900" indent="-342900" algn="l">
              <a:lnSpc>
                <a:spcPts val="1650"/>
              </a:lnSpc>
              <a:buSzPct val="100000"/>
              <a:buChar char="•"/>
            </a:pPr>
            <a:r>
              <a:rPr lang="en-US" sz="1400" dirty="0">
                <a:solidFill>
                  <a:srgbClr val="272525"/>
                </a:solidFill>
                <a:latin typeface="Lato" pitchFamily="34" charset="0"/>
                <a:ea typeface="Lato" pitchFamily="34" charset="-122"/>
                <a:cs typeface="Lato" pitchFamily="34" charset="-120"/>
              </a:rPr>
              <a:t>Shortness of breath during activity</a:t>
            </a:r>
            <a:endParaRPr lang="en-US" sz="1400" dirty="0"/>
          </a:p>
        </p:txBody>
      </p:sp>
      <p:sp>
        <p:nvSpPr>
          <p:cNvPr id="7" name="Text 5"/>
          <p:cNvSpPr/>
          <p:nvPr/>
        </p:nvSpPr>
        <p:spPr>
          <a:xfrm>
            <a:off x="446234" y="5023041"/>
            <a:ext cx="6615113" cy="214670"/>
          </a:xfrm>
          <a:prstGeom prst="rect">
            <a:avLst/>
          </a:prstGeom>
          <a:noFill/>
          <a:ln/>
        </p:spPr>
        <p:txBody>
          <a:bodyPr wrap="none" lIns="0" tIns="0" rIns="0" bIns="0" rtlCol="0" anchor="t"/>
          <a:lstStyle/>
          <a:p>
            <a:pPr marL="342900" indent="-342900" algn="l">
              <a:lnSpc>
                <a:spcPts val="1650"/>
              </a:lnSpc>
              <a:buSzPct val="100000"/>
              <a:buChar char="•"/>
            </a:pPr>
            <a:r>
              <a:rPr lang="en-US" sz="1400" dirty="0">
                <a:solidFill>
                  <a:srgbClr val="272525"/>
                </a:solidFill>
                <a:latin typeface="Lato" pitchFamily="34" charset="0"/>
                <a:ea typeface="Lato" pitchFamily="34" charset="-122"/>
                <a:cs typeface="Lato" pitchFamily="34" charset="-120"/>
              </a:rPr>
              <a:t>Persistent fatigue and weakness</a:t>
            </a:r>
            <a:endParaRPr lang="en-US" sz="1400" dirty="0"/>
          </a:p>
        </p:txBody>
      </p:sp>
      <p:sp>
        <p:nvSpPr>
          <p:cNvPr id="8" name="Text 6"/>
          <p:cNvSpPr/>
          <p:nvPr/>
        </p:nvSpPr>
        <p:spPr>
          <a:xfrm flipV="1">
            <a:off x="7584066" y="3451006"/>
            <a:ext cx="6615113" cy="560773"/>
          </a:xfrm>
          <a:prstGeom prst="rect">
            <a:avLst/>
          </a:prstGeom>
          <a:noFill/>
          <a:ln/>
        </p:spPr>
        <p:txBody>
          <a:bodyPr wrap="none" lIns="0" tIns="0" rIns="0" bIns="0" rtlCol="0" anchor="t"/>
          <a:lstStyle/>
          <a:p>
            <a:pPr algn="l">
              <a:lnSpc>
                <a:spcPts val="1650"/>
              </a:lnSpc>
              <a:buSzPct val="100000"/>
            </a:pPr>
            <a:endParaRPr lang="en-US" sz="1050" dirty="0"/>
          </a:p>
        </p:txBody>
      </p:sp>
      <p:sp>
        <p:nvSpPr>
          <p:cNvPr id="9" name="Text 7"/>
          <p:cNvSpPr/>
          <p:nvPr/>
        </p:nvSpPr>
        <p:spPr>
          <a:xfrm>
            <a:off x="446234" y="5708860"/>
            <a:ext cx="6615113" cy="214670"/>
          </a:xfrm>
          <a:prstGeom prst="rect">
            <a:avLst/>
          </a:prstGeom>
          <a:noFill/>
          <a:ln/>
        </p:spPr>
        <p:txBody>
          <a:bodyPr wrap="none" lIns="0" tIns="0" rIns="0" bIns="0" rtlCol="0" anchor="t"/>
          <a:lstStyle/>
          <a:p>
            <a:pPr marL="342900" indent="-342900" algn="l">
              <a:lnSpc>
                <a:spcPts val="1650"/>
              </a:lnSpc>
              <a:buSzPct val="100000"/>
              <a:buChar char="•"/>
            </a:pPr>
            <a:r>
              <a:rPr lang="en-US" sz="1400" dirty="0">
                <a:solidFill>
                  <a:srgbClr val="272525"/>
                </a:solidFill>
                <a:latin typeface="Lato" pitchFamily="34" charset="0"/>
                <a:ea typeface="Lato" pitchFamily="34" charset="-122"/>
                <a:cs typeface="Lato" pitchFamily="34" charset="-120"/>
              </a:rPr>
              <a:t>Heart palpitations or irregular heartbeat</a:t>
            </a:r>
            <a:endParaRPr lang="en-US" sz="1400" dirty="0"/>
          </a:p>
        </p:txBody>
      </p:sp>
      <p:pic>
        <p:nvPicPr>
          <p:cNvPr id="10" name="Image 0" descr="preencoded.png"/>
          <p:cNvPicPr>
            <a:picLocks noChangeAspect="1"/>
          </p:cNvPicPr>
          <p:nvPr/>
        </p:nvPicPr>
        <p:blipFill>
          <a:blip r:embed="rId3"/>
          <a:stretch>
            <a:fillRect/>
          </a:stretch>
        </p:blipFill>
        <p:spPr>
          <a:xfrm>
            <a:off x="7906001" y="1569071"/>
            <a:ext cx="5442009" cy="5442009"/>
          </a:xfrm>
          <a:prstGeom prst="rect">
            <a:avLst/>
          </a:prstGeom>
        </p:spPr>
      </p:pic>
      <p:pic>
        <p:nvPicPr>
          <p:cNvPr id="13" name="Picture 12">
            <a:extLst>
              <a:ext uri="{FF2B5EF4-FFF2-40B4-BE49-F238E27FC236}">
                <a16:creationId xmlns:a16="http://schemas.microsoft.com/office/drawing/2014/main" id="{5863EE0F-3AC2-10EC-959B-51C61E3987A6}"/>
              </a:ext>
            </a:extLst>
          </p:cNvPr>
          <p:cNvPicPr>
            <a:picLocks noChangeAspect="1"/>
          </p:cNvPicPr>
          <p:nvPr/>
        </p:nvPicPr>
        <p:blipFill>
          <a:blip r:embed="rId4"/>
          <a:stretch>
            <a:fillRect/>
          </a:stretch>
        </p:blipFill>
        <p:spPr>
          <a:xfrm>
            <a:off x="12645817" y="7382107"/>
            <a:ext cx="1984583" cy="8474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291"/>
          </a:xfrm>
          <a:prstGeom prst="rect">
            <a:avLst/>
          </a:prstGeom>
        </p:spPr>
      </p:pic>
      <p:sp>
        <p:nvSpPr>
          <p:cNvPr id="3" name="Text 0"/>
          <p:cNvSpPr/>
          <p:nvPr/>
        </p:nvSpPr>
        <p:spPr>
          <a:xfrm>
            <a:off x="6071592" y="402312"/>
            <a:ext cx="6002417" cy="457200"/>
          </a:xfrm>
          <a:prstGeom prst="rect">
            <a:avLst/>
          </a:prstGeom>
          <a:noFill/>
          <a:ln/>
        </p:spPr>
        <p:txBody>
          <a:bodyPr wrap="none" lIns="0" tIns="0" rIns="0" bIns="0" rtlCol="0" anchor="t"/>
          <a:lstStyle/>
          <a:p>
            <a:pPr marL="0" indent="0" algn="l">
              <a:lnSpc>
                <a:spcPts val="3600"/>
              </a:lnSpc>
              <a:buNone/>
            </a:pPr>
            <a:r>
              <a:rPr lang="en-US" sz="4000" b="1" dirty="0">
                <a:solidFill>
                  <a:srgbClr val="312F2B"/>
                </a:solidFill>
                <a:latin typeface="Garamond" panose="02020404030301010803" pitchFamily="18" charset="0"/>
                <a:ea typeface="Gelasio" pitchFamily="34" charset="-122"/>
                <a:cs typeface="Gelasio" pitchFamily="34" charset="-120"/>
              </a:rPr>
              <a:t>Factors That Influence Heart Disease</a:t>
            </a:r>
            <a:endParaRPr lang="en-US" sz="4000" b="1" dirty="0">
              <a:latin typeface="Garamond" panose="02020404030301010803" pitchFamily="18" charset="0"/>
            </a:endParaRPr>
          </a:p>
        </p:txBody>
      </p:sp>
      <p:sp>
        <p:nvSpPr>
          <p:cNvPr id="4" name="Shape 1"/>
          <p:cNvSpPr/>
          <p:nvPr/>
        </p:nvSpPr>
        <p:spPr>
          <a:xfrm>
            <a:off x="6071592" y="1078944"/>
            <a:ext cx="7973616" cy="3154799"/>
          </a:xfrm>
          <a:prstGeom prst="roundRect">
            <a:avLst>
              <a:gd name="adj" fmla="val 1948"/>
            </a:avLst>
          </a:prstGeom>
          <a:solidFill>
            <a:srgbClr val="E8E8E3"/>
          </a:solidFill>
          <a:ln w="7620">
            <a:solidFill>
              <a:srgbClr val="CECEC9"/>
            </a:solidFill>
            <a:prstDash val="solid"/>
          </a:ln>
        </p:spPr>
      </p:sp>
      <p:sp>
        <p:nvSpPr>
          <p:cNvPr id="5" name="Shape 2"/>
          <p:cNvSpPr/>
          <p:nvPr/>
        </p:nvSpPr>
        <p:spPr>
          <a:xfrm>
            <a:off x="6225421" y="1232773"/>
            <a:ext cx="438864" cy="438864"/>
          </a:xfrm>
          <a:prstGeom prst="roundRect">
            <a:avLst>
              <a:gd name="adj" fmla="val 20833528"/>
            </a:avLst>
          </a:prstGeom>
          <a:solidFill>
            <a:srgbClr val="E5E5E0"/>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6150" y="1353383"/>
            <a:ext cx="197406" cy="197406"/>
          </a:xfrm>
          <a:prstGeom prst="rect">
            <a:avLst/>
          </a:prstGeom>
        </p:spPr>
      </p:pic>
      <p:sp>
        <p:nvSpPr>
          <p:cNvPr id="7" name="Text 3"/>
          <p:cNvSpPr/>
          <p:nvPr/>
        </p:nvSpPr>
        <p:spPr>
          <a:xfrm>
            <a:off x="6225421" y="1817846"/>
            <a:ext cx="1828919" cy="228600"/>
          </a:xfrm>
          <a:prstGeom prst="rect">
            <a:avLst/>
          </a:prstGeom>
          <a:noFill/>
          <a:ln/>
        </p:spPr>
        <p:txBody>
          <a:bodyPr wrap="none" lIns="0" tIns="0" rIns="0" bIns="0" rtlCol="0" anchor="t"/>
          <a:lstStyle/>
          <a:p>
            <a:pPr marL="0" indent="0" algn="l">
              <a:lnSpc>
                <a:spcPts val="1800"/>
              </a:lnSpc>
              <a:buNone/>
            </a:pPr>
            <a:r>
              <a:rPr lang="en-US" sz="1400" dirty="0">
                <a:solidFill>
                  <a:srgbClr val="272525"/>
                </a:solidFill>
                <a:latin typeface="Gelasio" pitchFamily="34" charset="0"/>
                <a:ea typeface="Gelasio" pitchFamily="34" charset="-122"/>
                <a:cs typeface="Gelasio" pitchFamily="34" charset="-120"/>
              </a:rPr>
              <a:t>Clinical Risk Factors</a:t>
            </a:r>
            <a:endParaRPr lang="en-US" sz="1400" dirty="0"/>
          </a:p>
        </p:txBody>
      </p:sp>
      <p:sp>
        <p:nvSpPr>
          <p:cNvPr id="8" name="Text 4"/>
          <p:cNvSpPr/>
          <p:nvPr/>
        </p:nvSpPr>
        <p:spPr>
          <a:xfrm>
            <a:off x="6225421" y="2134195"/>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Advanced age</a:t>
            </a:r>
            <a:endParaRPr lang="en-US" sz="1150" dirty="0"/>
          </a:p>
        </p:txBody>
      </p:sp>
      <p:sp>
        <p:nvSpPr>
          <p:cNvPr id="9" name="Text 5"/>
          <p:cNvSpPr/>
          <p:nvPr/>
        </p:nvSpPr>
        <p:spPr>
          <a:xfrm>
            <a:off x="6225421" y="2419469"/>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Male sex</a:t>
            </a:r>
            <a:endParaRPr lang="en-US" sz="1150" dirty="0"/>
          </a:p>
        </p:txBody>
      </p:sp>
      <p:sp>
        <p:nvSpPr>
          <p:cNvPr id="10" name="Text 6"/>
          <p:cNvSpPr/>
          <p:nvPr/>
        </p:nvSpPr>
        <p:spPr>
          <a:xfrm>
            <a:off x="6225421" y="2704743"/>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Chest pain type (angina patterns)</a:t>
            </a:r>
            <a:endParaRPr lang="en-US" sz="1150" dirty="0"/>
          </a:p>
        </p:txBody>
      </p:sp>
      <p:sp>
        <p:nvSpPr>
          <p:cNvPr id="11" name="Text 7"/>
          <p:cNvSpPr/>
          <p:nvPr/>
        </p:nvSpPr>
        <p:spPr>
          <a:xfrm>
            <a:off x="6225421" y="2990017"/>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Elevated cholesterol levels</a:t>
            </a:r>
            <a:endParaRPr lang="en-US" sz="1150" dirty="0"/>
          </a:p>
        </p:txBody>
      </p:sp>
      <p:sp>
        <p:nvSpPr>
          <p:cNvPr id="12" name="Text 8"/>
          <p:cNvSpPr/>
          <p:nvPr/>
        </p:nvSpPr>
        <p:spPr>
          <a:xfrm>
            <a:off x="6225421" y="3275290"/>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Hypertension (high blood pressure)</a:t>
            </a:r>
            <a:endParaRPr lang="en-US" sz="1150" dirty="0"/>
          </a:p>
        </p:txBody>
      </p:sp>
      <p:sp>
        <p:nvSpPr>
          <p:cNvPr id="13" name="Text 9"/>
          <p:cNvSpPr/>
          <p:nvPr/>
        </p:nvSpPr>
        <p:spPr>
          <a:xfrm>
            <a:off x="6225421" y="3560564"/>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Elevated fasting blood glucose</a:t>
            </a:r>
            <a:endParaRPr lang="en-US" sz="1150" dirty="0"/>
          </a:p>
        </p:txBody>
      </p:sp>
      <p:sp>
        <p:nvSpPr>
          <p:cNvPr id="14" name="Text 10"/>
          <p:cNvSpPr/>
          <p:nvPr/>
        </p:nvSpPr>
        <p:spPr>
          <a:xfrm>
            <a:off x="6225421" y="3845838"/>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Reduced physical activity</a:t>
            </a:r>
            <a:endParaRPr lang="en-US" sz="1150" dirty="0"/>
          </a:p>
        </p:txBody>
      </p:sp>
      <p:sp>
        <p:nvSpPr>
          <p:cNvPr id="15" name="Shape 11"/>
          <p:cNvSpPr/>
          <p:nvPr/>
        </p:nvSpPr>
        <p:spPr>
          <a:xfrm>
            <a:off x="6071592" y="4379952"/>
            <a:ext cx="7973616" cy="2584252"/>
          </a:xfrm>
          <a:prstGeom prst="roundRect">
            <a:avLst>
              <a:gd name="adj" fmla="val 2378"/>
            </a:avLst>
          </a:prstGeom>
          <a:solidFill>
            <a:srgbClr val="E8E8E3"/>
          </a:solidFill>
          <a:ln w="7620">
            <a:solidFill>
              <a:srgbClr val="CECEC9"/>
            </a:solidFill>
            <a:prstDash val="solid"/>
          </a:ln>
        </p:spPr>
      </p:sp>
      <p:sp>
        <p:nvSpPr>
          <p:cNvPr id="16" name="Shape 12"/>
          <p:cNvSpPr/>
          <p:nvPr/>
        </p:nvSpPr>
        <p:spPr>
          <a:xfrm>
            <a:off x="6225421" y="4533781"/>
            <a:ext cx="438864" cy="438864"/>
          </a:xfrm>
          <a:prstGeom prst="roundRect">
            <a:avLst>
              <a:gd name="adj" fmla="val 20833528"/>
            </a:avLst>
          </a:prstGeom>
          <a:solidFill>
            <a:srgbClr val="E5E5E0"/>
          </a:solidFill>
          <a:ln/>
        </p:spPr>
      </p:sp>
      <p:pic>
        <p:nvPicPr>
          <p:cNvPr id="1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46150" y="4654391"/>
            <a:ext cx="197406" cy="197406"/>
          </a:xfrm>
          <a:prstGeom prst="rect">
            <a:avLst/>
          </a:prstGeom>
        </p:spPr>
      </p:pic>
      <p:sp>
        <p:nvSpPr>
          <p:cNvPr id="18" name="Text 13"/>
          <p:cNvSpPr/>
          <p:nvPr/>
        </p:nvSpPr>
        <p:spPr>
          <a:xfrm>
            <a:off x="6225421" y="5118854"/>
            <a:ext cx="1828919" cy="228600"/>
          </a:xfrm>
          <a:prstGeom prst="rect">
            <a:avLst/>
          </a:prstGeom>
          <a:noFill/>
          <a:ln/>
        </p:spPr>
        <p:txBody>
          <a:bodyPr wrap="none" lIns="0" tIns="0" rIns="0" bIns="0" rtlCol="0" anchor="t"/>
          <a:lstStyle/>
          <a:p>
            <a:pPr marL="0" indent="0" algn="l">
              <a:lnSpc>
                <a:spcPts val="1800"/>
              </a:lnSpc>
              <a:buNone/>
            </a:pPr>
            <a:r>
              <a:rPr lang="en-US" sz="1400" dirty="0">
                <a:solidFill>
                  <a:srgbClr val="272525"/>
                </a:solidFill>
                <a:latin typeface="Gelasio" pitchFamily="34" charset="0"/>
                <a:ea typeface="Gelasio" pitchFamily="34" charset="-122"/>
                <a:cs typeface="Gelasio" pitchFamily="34" charset="-120"/>
              </a:rPr>
              <a:t>Lifestyle Risk Factors</a:t>
            </a:r>
            <a:endParaRPr lang="en-US" sz="1400" dirty="0"/>
          </a:p>
        </p:txBody>
      </p:sp>
      <p:sp>
        <p:nvSpPr>
          <p:cNvPr id="19" name="Text 14"/>
          <p:cNvSpPr/>
          <p:nvPr/>
        </p:nvSpPr>
        <p:spPr>
          <a:xfrm>
            <a:off x="6225421" y="5435203"/>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Tobacco smoking</a:t>
            </a:r>
            <a:endParaRPr lang="en-US" sz="1150" dirty="0"/>
          </a:p>
        </p:txBody>
      </p:sp>
      <p:sp>
        <p:nvSpPr>
          <p:cNvPr id="20" name="Text 15"/>
          <p:cNvSpPr/>
          <p:nvPr/>
        </p:nvSpPr>
        <p:spPr>
          <a:xfrm>
            <a:off x="6225421" y="5720477"/>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Obesity and excess weight</a:t>
            </a:r>
            <a:endParaRPr lang="en-US" sz="1150" dirty="0"/>
          </a:p>
        </p:txBody>
      </p:sp>
      <p:sp>
        <p:nvSpPr>
          <p:cNvPr id="21" name="Text 16"/>
          <p:cNvSpPr/>
          <p:nvPr/>
        </p:nvSpPr>
        <p:spPr>
          <a:xfrm>
            <a:off x="6225421" y="6005751"/>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Chronic stress</a:t>
            </a:r>
            <a:endParaRPr lang="en-US" sz="1150" dirty="0"/>
          </a:p>
        </p:txBody>
      </p:sp>
      <p:sp>
        <p:nvSpPr>
          <p:cNvPr id="22" name="Text 17"/>
          <p:cNvSpPr/>
          <p:nvPr/>
        </p:nvSpPr>
        <p:spPr>
          <a:xfrm>
            <a:off x="6225421" y="6291024"/>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Poor dietary habits</a:t>
            </a:r>
            <a:endParaRPr lang="en-US" sz="1150" dirty="0"/>
          </a:p>
        </p:txBody>
      </p:sp>
      <p:sp>
        <p:nvSpPr>
          <p:cNvPr id="23" name="Text 18"/>
          <p:cNvSpPr/>
          <p:nvPr/>
        </p:nvSpPr>
        <p:spPr>
          <a:xfrm>
            <a:off x="6225421" y="6576298"/>
            <a:ext cx="7665958" cy="234077"/>
          </a:xfrm>
          <a:prstGeom prst="rect">
            <a:avLst/>
          </a:prstGeom>
          <a:noFill/>
          <a:ln/>
        </p:spPr>
        <p:txBody>
          <a:bodyPr wrap="none" lIns="0" tIns="0" rIns="0" bIns="0" rtlCol="0" anchor="t"/>
          <a:lstStyle/>
          <a:p>
            <a:pPr marL="342900" indent="-342900" algn="l">
              <a:lnSpc>
                <a:spcPts val="1800"/>
              </a:lnSpc>
              <a:buSzPct val="100000"/>
              <a:buChar char="•"/>
            </a:pPr>
            <a:r>
              <a:rPr lang="en-US" sz="1150" dirty="0">
                <a:solidFill>
                  <a:srgbClr val="272525"/>
                </a:solidFill>
                <a:latin typeface="Lato" pitchFamily="34" charset="0"/>
                <a:ea typeface="Lato" pitchFamily="34" charset="-122"/>
                <a:cs typeface="Lato" pitchFamily="34" charset="-120"/>
              </a:rPr>
              <a:t>Excessive alcohol consumption</a:t>
            </a:r>
            <a:endParaRPr lang="en-US" sz="1150" dirty="0"/>
          </a:p>
        </p:txBody>
      </p:sp>
      <p:sp>
        <p:nvSpPr>
          <p:cNvPr id="24" name="Text 19"/>
          <p:cNvSpPr/>
          <p:nvPr/>
        </p:nvSpPr>
        <p:spPr>
          <a:xfrm>
            <a:off x="6071592" y="7128748"/>
            <a:ext cx="7973616" cy="702231"/>
          </a:xfrm>
          <a:prstGeom prst="rect">
            <a:avLst/>
          </a:prstGeom>
          <a:noFill/>
          <a:ln/>
        </p:spPr>
        <p:txBody>
          <a:bodyPr wrap="square" lIns="0" tIns="0" rIns="0" bIns="0" rtlCol="0" anchor="t"/>
          <a:lstStyle/>
          <a:p>
            <a:pPr marL="0" indent="0" algn="l">
              <a:lnSpc>
                <a:spcPts val="1800"/>
              </a:lnSpc>
              <a:buNone/>
            </a:pPr>
            <a:r>
              <a:rPr lang="en-US" sz="1150" dirty="0">
                <a:solidFill>
                  <a:srgbClr val="272525"/>
                </a:solidFill>
                <a:latin typeface="Lato" pitchFamily="34" charset="0"/>
                <a:ea typeface="Lato" pitchFamily="34" charset="-122"/>
                <a:cs typeface="Lato" pitchFamily="34" charset="-120"/>
              </a:rPr>
              <a:t>Predictive models harness the power of data analytics to identify high-risk individuals by detecting complex patterns across multiple clinical and lifestyle parameters. This enables healthcare providers to stratify patient populations and allocate resources more effectively.</a:t>
            </a:r>
            <a:endParaRPr lang="en-US" sz="1150" dirty="0"/>
          </a:p>
        </p:txBody>
      </p:sp>
      <p:pic>
        <p:nvPicPr>
          <p:cNvPr id="25" name="Picture 24">
            <a:extLst>
              <a:ext uri="{FF2B5EF4-FFF2-40B4-BE49-F238E27FC236}">
                <a16:creationId xmlns:a16="http://schemas.microsoft.com/office/drawing/2014/main" id="{F8E06280-642C-9315-8095-A9A9AFAFD15C}"/>
              </a:ext>
            </a:extLst>
          </p:cNvPr>
          <p:cNvPicPr>
            <a:picLocks noChangeAspect="1"/>
          </p:cNvPicPr>
          <p:nvPr/>
        </p:nvPicPr>
        <p:blipFill>
          <a:blip r:embed="rId8"/>
          <a:stretch>
            <a:fillRect/>
          </a:stretch>
        </p:blipFill>
        <p:spPr>
          <a:xfrm>
            <a:off x="12779298" y="7672039"/>
            <a:ext cx="1851102" cy="5575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2701" y="448628"/>
            <a:ext cx="4974550" cy="509826"/>
          </a:xfrm>
          <a:prstGeom prst="rect">
            <a:avLst/>
          </a:prstGeom>
          <a:noFill/>
          <a:ln/>
        </p:spPr>
        <p:txBody>
          <a:bodyPr wrap="none" lIns="0" tIns="0" rIns="0" bIns="0" rtlCol="0" anchor="t"/>
          <a:lstStyle/>
          <a:p>
            <a:pPr marL="0" indent="0" algn="l">
              <a:lnSpc>
                <a:spcPts val="4000"/>
              </a:lnSpc>
              <a:buNone/>
            </a:pPr>
            <a:r>
              <a:rPr lang="en-US" sz="4000" b="1" dirty="0">
                <a:solidFill>
                  <a:srgbClr val="312F2B"/>
                </a:solidFill>
                <a:latin typeface="Garamond" panose="02020404030301010803" pitchFamily="18" charset="0"/>
                <a:ea typeface="Gelasio" pitchFamily="34" charset="-122"/>
                <a:cs typeface="Gelasio" pitchFamily="34" charset="-120"/>
              </a:rPr>
              <a:t>Dataset Used for Prediction</a:t>
            </a:r>
            <a:endParaRPr lang="en-US" sz="4000" b="1" dirty="0">
              <a:latin typeface="Garamond" panose="02020404030301010803" pitchFamily="18" charset="0"/>
            </a:endParaRPr>
          </a:p>
        </p:txBody>
      </p:sp>
      <p:sp>
        <p:nvSpPr>
          <p:cNvPr id="3" name="Text 1"/>
          <p:cNvSpPr/>
          <p:nvPr/>
        </p:nvSpPr>
        <p:spPr>
          <a:xfrm>
            <a:off x="652701" y="1349931"/>
            <a:ext cx="7835741" cy="783312"/>
          </a:xfrm>
          <a:prstGeom prst="rect">
            <a:avLst/>
          </a:prstGeom>
          <a:noFill/>
          <a:ln/>
        </p:spPr>
        <p:txBody>
          <a:bodyPr wrap="squar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The predictive model utilises the Heart Disease UCI Dataset, a comprehensive collection of patient health measurements routinely recorded in clinical settings. This dataset provides a robust foundation for training machine learning algorithms to identify cardiovascular disease patterns.</a:t>
            </a:r>
            <a:endParaRPr lang="en-US" sz="1400" dirty="0"/>
          </a:p>
        </p:txBody>
      </p:sp>
      <p:sp>
        <p:nvSpPr>
          <p:cNvPr id="4" name="Text 2"/>
          <p:cNvSpPr/>
          <p:nvPr/>
        </p:nvSpPr>
        <p:spPr>
          <a:xfrm>
            <a:off x="652701" y="2296358"/>
            <a:ext cx="2039660" cy="254913"/>
          </a:xfrm>
          <a:prstGeom prst="rect">
            <a:avLst/>
          </a:prstGeom>
          <a:noFill/>
          <a:ln/>
        </p:spPr>
        <p:txBody>
          <a:bodyPr wrap="none" lIns="0" tIns="0" rIns="0" bIns="0" rtlCol="0" anchor="t"/>
          <a:lstStyle/>
          <a:p>
            <a:pPr marL="0" indent="0" algn="l">
              <a:lnSpc>
                <a:spcPts val="2000"/>
              </a:lnSpc>
              <a:buNone/>
            </a:pPr>
            <a:r>
              <a:rPr lang="en-US" sz="1600" dirty="0">
                <a:solidFill>
                  <a:srgbClr val="312F2B"/>
                </a:solidFill>
                <a:latin typeface="Gelasio" pitchFamily="34" charset="0"/>
                <a:ea typeface="Gelasio" pitchFamily="34" charset="-122"/>
                <a:cs typeface="Gelasio" pitchFamily="34" charset="-120"/>
              </a:rPr>
              <a:t>Key Clinical Features</a:t>
            </a:r>
            <a:endParaRPr lang="en-US" sz="1600" dirty="0"/>
          </a:p>
        </p:txBody>
      </p:sp>
      <p:sp>
        <p:nvSpPr>
          <p:cNvPr id="5" name="Text 3"/>
          <p:cNvSpPr/>
          <p:nvPr/>
        </p:nvSpPr>
        <p:spPr>
          <a:xfrm>
            <a:off x="652701" y="271438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Age</a:t>
            </a:r>
            <a:r>
              <a:rPr lang="en-US" sz="1250" dirty="0">
                <a:solidFill>
                  <a:srgbClr val="272525"/>
                </a:solidFill>
                <a:latin typeface="Lato" pitchFamily="34" charset="0"/>
                <a:ea typeface="Lato" pitchFamily="34" charset="-122"/>
                <a:cs typeface="Lato" pitchFamily="34" charset="-120"/>
              </a:rPr>
              <a:t> – patient's age in </a:t>
            </a:r>
            <a:r>
              <a:rPr lang="en-US" sz="1400" dirty="0">
                <a:solidFill>
                  <a:srgbClr val="272525"/>
                </a:solidFill>
                <a:latin typeface="Lato" pitchFamily="34" charset="0"/>
                <a:ea typeface="Lato" pitchFamily="34" charset="-122"/>
                <a:cs typeface="Lato" pitchFamily="34" charset="-120"/>
              </a:rPr>
              <a:t>years</a:t>
            </a:r>
            <a:endParaRPr lang="en-US" sz="1400" dirty="0"/>
          </a:p>
        </p:txBody>
      </p:sp>
      <p:sp>
        <p:nvSpPr>
          <p:cNvPr id="6" name="Text 4"/>
          <p:cNvSpPr/>
          <p:nvPr/>
        </p:nvSpPr>
        <p:spPr>
          <a:xfrm>
            <a:off x="652701" y="303252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Sex</a:t>
            </a:r>
            <a:r>
              <a:rPr lang="en-US" sz="1250" dirty="0">
                <a:solidFill>
                  <a:srgbClr val="272525"/>
                </a:solidFill>
                <a:latin typeface="Lato" pitchFamily="34" charset="0"/>
                <a:ea typeface="Lato" pitchFamily="34" charset="-122"/>
                <a:cs typeface="Lato" pitchFamily="34" charset="-120"/>
              </a:rPr>
              <a:t> – biological sex (male/female)</a:t>
            </a:r>
            <a:endParaRPr lang="en-US" sz="1250" dirty="0"/>
          </a:p>
        </p:txBody>
      </p:sp>
      <p:sp>
        <p:nvSpPr>
          <p:cNvPr id="7" name="Text 5"/>
          <p:cNvSpPr/>
          <p:nvPr/>
        </p:nvSpPr>
        <p:spPr>
          <a:xfrm>
            <a:off x="652701" y="335065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Chest Pain Type</a:t>
            </a:r>
            <a:r>
              <a:rPr lang="en-US" sz="1250" dirty="0">
                <a:solidFill>
                  <a:srgbClr val="272525"/>
                </a:solidFill>
                <a:latin typeface="Lato" pitchFamily="34" charset="0"/>
                <a:ea typeface="Lato" pitchFamily="34" charset="-122"/>
                <a:cs typeface="Lato" pitchFamily="34" charset="-120"/>
              </a:rPr>
              <a:t> – categorised angina patterns</a:t>
            </a:r>
            <a:endParaRPr lang="en-US" sz="1250" dirty="0"/>
          </a:p>
        </p:txBody>
      </p:sp>
      <p:sp>
        <p:nvSpPr>
          <p:cNvPr id="8" name="Text 6"/>
          <p:cNvSpPr/>
          <p:nvPr/>
        </p:nvSpPr>
        <p:spPr>
          <a:xfrm>
            <a:off x="652701" y="366879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Resting BP</a:t>
            </a:r>
            <a:r>
              <a:rPr lang="en-US" sz="1250" dirty="0">
                <a:solidFill>
                  <a:srgbClr val="272525"/>
                </a:solidFill>
                <a:latin typeface="Lato" pitchFamily="34" charset="0"/>
                <a:ea typeface="Lato" pitchFamily="34" charset="-122"/>
                <a:cs typeface="Lato" pitchFamily="34" charset="-120"/>
              </a:rPr>
              <a:t> – blood pressure at rest</a:t>
            </a:r>
            <a:endParaRPr lang="en-US" sz="1250" dirty="0"/>
          </a:p>
        </p:txBody>
      </p:sp>
      <p:sp>
        <p:nvSpPr>
          <p:cNvPr id="9" name="Text 7"/>
          <p:cNvSpPr/>
          <p:nvPr/>
        </p:nvSpPr>
        <p:spPr>
          <a:xfrm>
            <a:off x="652701" y="398692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Serum Cholesterol</a:t>
            </a:r>
            <a:r>
              <a:rPr lang="en-US" sz="1250" dirty="0">
                <a:solidFill>
                  <a:srgbClr val="272525"/>
                </a:solidFill>
                <a:latin typeface="Lato" pitchFamily="34" charset="0"/>
                <a:ea typeface="Lato" pitchFamily="34" charset="-122"/>
                <a:cs typeface="Lato" pitchFamily="34" charset="-120"/>
              </a:rPr>
              <a:t> – total cholesterol level</a:t>
            </a:r>
            <a:endParaRPr lang="en-US" sz="1250" dirty="0"/>
          </a:p>
        </p:txBody>
      </p:sp>
      <p:sp>
        <p:nvSpPr>
          <p:cNvPr id="10" name="Text 8"/>
          <p:cNvSpPr/>
          <p:nvPr/>
        </p:nvSpPr>
        <p:spPr>
          <a:xfrm>
            <a:off x="652701" y="430506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Fasting Blood Sugar</a:t>
            </a:r>
            <a:r>
              <a:rPr lang="en-US" sz="1250" dirty="0">
                <a:solidFill>
                  <a:srgbClr val="272525"/>
                </a:solidFill>
                <a:latin typeface="Lato" pitchFamily="34" charset="0"/>
                <a:ea typeface="Lato" pitchFamily="34" charset="-122"/>
                <a:cs typeface="Lato" pitchFamily="34" charset="-120"/>
              </a:rPr>
              <a:t> – glucose measurement</a:t>
            </a:r>
            <a:endParaRPr lang="en-US" sz="1250" dirty="0"/>
          </a:p>
        </p:txBody>
      </p:sp>
      <p:sp>
        <p:nvSpPr>
          <p:cNvPr id="11" name="Text 9"/>
          <p:cNvSpPr/>
          <p:nvPr/>
        </p:nvSpPr>
        <p:spPr>
          <a:xfrm>
            <a:off x="652701" y="462319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Resting ECG</a:t>
            </a:r>
            <a:r>
              <a:rPr lang="en-US" sz="1250" dirty="0">
                <a:solidFill>
                  <a:srgbClr val="272525"/>
                </a:solidFill>
                <a:latin typeface="Lato" pitchFamily="34" charset="0"/>
                <a:ea typeface="Lato" pitchFamily="34" charset="-122"/>
                <a:cs typeface="Lato" pitchFamily="34" charset="-120"/>
              </a:rPr>
              <a:t> – electrocardiogram results</a:t>
            </a:r>
            <a:endParaRPr lang="en-US" sz="1250" dirty="0"/>
          </a:p>
        </p:txBody>
      </p:sp>
      <p:sp>
        <p:nvSpPr>
          <p:cNvPr id="12" name="Text 10"/>
          <p:cNvSpPr/>
          <p:nvPr/>
        </p:nvSpPr>
        <p:spPr>
          <a:xfrm>
            <a:off x="652701" y="494133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Max Heart Rate</a:t>
            </a:r>
            <a:r>
              <a:rPr lang="en-US" sz="1250" dirty="0">
                <a:solidFill>
                  <a:srgbClr val="272525"/>
                </a:solidFill>
                <a:latin typeface="Lato" pitchFamily="34" charset="0"/>
                <a:ea typeface="Lato" pitchFamily="34" charset="-122"/>
                <a:cs typeface="Lato" pitchFamily="34" charset="-120"/>
              </a:rPr>
              <a:t> – peak heart rate achieved</a:t>
            </a:r>
            <a:endParaRPr lang="en-US" sz="1250" dirty="0"/>
          </a:p>
        </p:txBody>
      </p:sp>
      <p:sp>
        <p:nvSpPr>
          <p:cNvPr id="13" name="Text 11"/>
          <p:cNvSpPr/>
          <p:nvPr/>
        </p:nvSpPr>
        <p:spPr>
          <a:xfrm>
            <a:off x="652701" y="525946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Exercise-Induced Angina</a:t>
            </a:r>
            <a:r>
              <a:rPr lang="en-US" sz="1250" dirty="0">
                <a:solidFill>
                  <a:srgbClr val="272525"/>
                </a:solidFill>
                <a:latin typeface="Lato" pitchFamily="34" charset="0"/>
                <a:ea typeface="Lato" pitchFamily="34" charset="-122"/>
                <a:cs typeface="Lato" pitchFamily="34" charset="-120"/>
              </a:rPr>
              <a:t> – chest pain during exertion</a:t>
            </a:r>
            <a:endParaRPr lang="en-US" sz="1250" dirty="0"/>
          </a:p>
        </p:txBody>
      </p:sp>
      <p:sp>
        <p:nvSpPr>
          <p:cNvPr id="14" name="Text 12"/>
          <p:cNvSpPr/>
          <p:nvPr/>
        </p:nvSpPr>
        <p:spPr>
          <a:xfrm>
            <a:off x="652701" y="557760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ST Depression (Oldpeak)</a:t>
            </a:r>
            <a:r>
              <a:rPr lang="en-US" sz="1250" dirty="0">
                <a:solidFill>
                  <a:srgbClr val="272525"/>
                </a:solidFill>
                <a:latin typeface="Lato" pitchFamily="34" charset="0"/>
                <a:ea typeface="Lato" pitchFamily="34" charset="-122"/>
                <a:cs typeface="Lato" pitchFamily="34" charset="-120"/>
              </a:rPr>
              <a:t> – ECG abnormality measure</a:t>
            </a:r>
            <a:endParaRPr lang="en-US" sz="1250" dirty="0"/>
          </a:p>
        </p:txBody>
      </p:sp>
      <p:sp>
        <p:nvSpPr>
          <p:cNvPr id="15" name="Text 13"/>
          <p:cNvSpPr/>
          <p:nvPr/>
        </p:nvSpPr>
        <p:spPr>
          <a:xfrm>
            <a:off x="652701" y="589573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Slope of ST Segment</a:t>
            </a:r>
            <a:r>
              <a:rPr lang="en-US" sz="1250" dirty="0">
                <a:solidFill>
                  <a:srgbClr val="272525"/>
                </a:solidFill>
                <a:latin typeface="Lato" pitchFamily="34" charset="0"/>
                <a:ea typeface="Lato" pitchFamily="34" charset="-122"/>
                <a:cs typeface="Lato" pitchFamily="34" charset="-120"/>
              </a:rPr>
              <a:t> – ECG slope pattern</a:t>
            </a:r>
            <a:endParaRPr lang="en-US" sz="1250" dirty="0"/>
          </a:p>
        </p:txBody>
      </p:sp>
      <p:sp>
        <p:nvSpPr>
          <p:cNvPr id="16" name="Text 14"/>
          <p:cNvSpPr/>
          <p:nvPr/>
        </p:nvSpPr>
        <p:spPr>
          <a:xfrm>
            <a:off x="652701" y="6213872"/>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Number of Major Vessels (CA)</a:t>
            </a:r>
            <a:r>
              <a:rPr lang="en-US" sz="1250" dirty="0">
                <a:solidFill>
                  <a:srgbClr val="272525"/>
                </a:solidFill>
                <a:latin typeface="Lato" pitchFamily="34" charset="0"/>
                <a:ea typeface="Lato" pitchFamily="34" charset="-122"/>
                <a:cs typeface="Lato" pitchFamily="34" charset="-120"/>
              </a:rPr>
              <a:t> – vessels with blockage</a:t>
            </a:r>
            <a:endParaRPr lang="en-US" sz="1250" dirty="0"/>
          </a:p>
        </p:txBody>
      </p:sp>
      <p:sp>
        <p:nvSpPr>
          <p:cNvPr id="17" name="Text 15"/>
          <p:cNvSpPr/>
          <p:nvPr/>
        </p:nvSpPr>
        <p:spPr>
          <a:xfrm>
            <a:off x="652701" y="6532007"/>
            <a:ext cx="7835741" cy="261104"/>
          </a:xfrm>
          <a:prstGeom prst="rect">
            <a:avLst/>
          </a:prstGeom>
          <a:noFill/>
          <a:ln/>
        </p:spPr>
        <p:txBody>
          <a:bodyPr wrap="none" lIns="0" tIns="0" rIns="0" bIns="0" rtlCol="0" anchor="t"/>
          <a:lstStyle/>
          <a:p>
            <a:pPr marL="342900" indent="-342900" algn="l">
              <a:lnSpc>
                <a:spcPts val="2050"/>
              </a:lnSpc>
              <a:buSzPct val="100000"/>
              <a:buChar char="•"/>
            </a:pPr>
            <a:r>
              <a:rPr lang="en-US" sz="1250" b="1" dirty="0">
                <a:solidFill>
                  <a:srgbClr val="272525"/>
                </a:solidFill>
                <a:latin typeface="Lato" pitchFamily="34" charset="0"/>
                <a:ea typeface="Lato" pitchFamily="34" charset="-122"/>
                <a:cs typeface="Lato" pitchFamily="34" charset="-120"/>
              </a:rPr>
              <a:t>Thalassemia (Thal)</a:t>
            </a:r>
            <a:r>
              <a:rPr lang="en-US" sz="1250" dirty="0">
                <a:solidFill>
                  <a:srgbClr val="272525"/>
                </a:solidFill>
                <a:latin typeface="Lato" pitchFamily="34" charset="0"/>
                <a:ea typeface="Lato" pitchFamily="34" charset="-122"/>
                <a:cs typeface="Lato" pitchFamily="34" charset="-120"/>
              </a:rPr>
              <a:t> – blood disorder status</a:t>
            </a:r>
            <a:endParaRPr lang="en-US" sz="1250" dirty="0"/>
          </a:p>
        </p:txBody>
      </p:sp>
      <p:sp>
        <p:nvSpPr>
          <p:cNvPr id="18" name="Shape 16"/>
          <p:cNvSpPr/>
          <p:nvPr/>
        </p:nvSpPr>
        <p:spPr>
          <a:xfrm>
            <a:off x="8593124" y="1295420"/>
            <a:ext cx="5658134" cy="1519238"/>
          </a:xfrm>
          <a:prstGeom prst="roundRect">
            <a:avLst>
              <a:gd name="adj" fmla="val 4511"/>
            </a:avLst>
          </a:prstGeom>
          <a:solidFill>
            <a:srgbClr val="DCDCD5"/>
          </a:solidFill>
          <a:ln/>
        </p:spPr>
      </p:sp>
      <p:pic>
        <p:nvPicPr>
          <p:cNvPr id="19" name="Image 0" descr="preencoded.png"/>
          <p:cNvPicPr>
            <a:picLocks noChangeAspect="1"/>
          </p:cNvPicPr>
          <p:nvPr/>
        </p:nvPicPr>
        <p:blipFill>
          <a:blip r:embed="rId3"/>
          <a:stretch>
            <a:fillRect/>
          </a:stretch>
        </p:blipFill>
        <p:spPr>
          <a:xfrm>
            <a:off x="9057323" y="1594842"/>
            <a:ext cx="254913" cy="203954"/>
          </a:xfrm>
          <a:prstGeom prst="rect">
            <a:avLst/>
          </a:prstGeom>
        </p:spPr>
      </p:pic>
      <p:sp>
        <p:nvSpPr>
          <p:cNvPr id="20" name="Text 17"/>
          <p:cNvSpPr/>
          <p:nvPr/>
        </p:nvSpPr>
        <p:spPr>
          <a:xfrm>
            <a:off x="9475351" y="1590437"/>
            <a:ext cx="2039660" cy="254913"/>
          </a:xfrm>
          <a:prstGeom prst="rect">
            <a:avLst/>
          </a:prstGeom>
          <a:noFill/>
          <a:ln/>
        </p:spPr>
        <p:txBody>
          <a:bodyPr wrap="none" lIns="0" tIns="0" rIns="0" bIns="0" rtlCol="0" anchor="t"/>
          <a:lstStyle/>
          <a:p>
            <a:pPr marL="0" indent="0" algn="l">
              <a:lnSpc>
                <a:spcPts val="2000"/>
              </a:lnSpc>
              <a:buNone/>
            </a:pPr>
            <a:r>
              <a:rPr lang="en-US" sz="1600" dirty="0">
                <a:solidFill>
                  <a:srgbClr val="000000"/>
                </a:solidFill>
                <a:latin typeface="Gelasio" pitchFamily="34" charset="0"/>
                <a:ea typeface="Gelasio" pitchFamily="34" charset="-122"/>
                <a:cs typeface="Gelasio" pitchFamily="34" charset="-120"/>
              </a:rPr>
              <a:t>Target Variable</a:t>
            </a:r>
            <a:endParaRPr lang="en-US" sz="1600" dirty="0"/>
          </a:p>
        </p:txBody>
      </p:sp>
      <p:sp>
        <p:nvSpPr>
          <p:cNvPr id="21" name="Text 18"/>
          <p:cNvSpPr/>
          <p:nvPr/>
        </p:nvSpPr>
        <p:spPr>
          <a:xfrm>
            <a:off x="9475351" y="2008465"/>
            <a:ext cx="4346853" cy="261104"/>
          </a:xfrm>
          <a:prstGeom prst="rect">
            <a:avLst/>
          </a:prstGeom>
          <a:noFill/>
          <a:ln/>
        </p:spPr>
        <p:txBody>
          <a:bodyPr wrap="none" lIns="0" tIns="0" rIns="0" bIns="0" rtlCol="0" anchor="t"/>
          <a:lstStyle/>
          <a:p>
            <a:pPr marL="0" indent="0" algn="l">
              <a:lnSpc>
                <a:spcPts val="2050"/>
              </a:lnSpc>
              <a:buNone/>
            </a:pPr>
            <a:r>
              <a:rPr lang="en-US" sz="1250" b="1" dirty="0">
                <a:solidFill>
                  <a:srgbClr val="000000"/>
                </a:solidFill>
                <a:latin typeface="Lato" pitchFamily="34" charset="0"/>
                <a:ea typeface="Lato" pitchFamily="34" charset="-122"/>
                <a:cs typeface="Lato" pitchFamily="34" charset="-120"/>
              </a:rPr>
              <a:t>1:</a:t>
            </a:r>
            <a:r>
              <a:rPr lang="en-US" sz="1250" dirty="0">
                <a:solidFill>
                  <a:srgbClr val="000000"/>
                </a:solidFill>
                <a:latin typeface="Lato" pitchFamily="34" charset="0"/>
                <a:ea typeface="Lato" pitchFamily="34" charset="-122"/>
                <a:cs typeface="Lato" pitchFamily="34" charset="-120"/>
              </a:rPr>
              <a:t> Heart Disease Present</a:t>
            </a:r>
            <a:endParaRPr lang="en-US" sz="1250" dirty="0"/>
          </a:p>
        </p:txBody>
      </p:sp>
      <p:sp>
        <p:nvSpPr>
          <p:cNvPr id="22" name="Text 19"/>
          <p:cNvSpPr/>
          <p:nvPr/>
        </p:nvSpPr>
        <p:spPr>
          <a:xfrm>
            <a:off x="9475351" y="2416373"/>
            <a:ext cx="4346853" cy="261104"/>
          </a:xfrm>
          <a:prstGeom prst="rect">
            <a:avLst/>
          </a:prstGeom>
          <a:noFill/>
          <a:ln/>
        </p:spPr>
        <p:txBody>
          <a:bodyPr wrap="none" lIns="0" tIns="0" rIns="0" bIns="0" rtlCol="0" anchor="t"/>
          <a:lstStyle/>
          <a:p>
            <a:pPr marL="0" indent="0" algn="l">
              <a:lnSpc>
                <a:spcPts val="2050"/>
              </a:lnSpc>
              <a:buNone/>
            </a:pPr>
            <a:r>
              <a:rPr lang="en-US" sz="1250" b="1" dirty="0">
                <a:solidFill>
                  <a:srgbClr val="000000"/>
                </a:solidFill>
                <a:latin typeface="Lato" pitchFamily="34" charset="0"/>
                <a:ea typeface="Lato" pitchFamily="34" charset="-122"/>
                <a:cs typeface="Lato" pitchFamily="34" charset="-120"/>
              </a:rPr>
              <a:t>0:</a:t>
            </a:r>
            <a:r>
              <a:rPr lang="en-US" sz="1250" dirty="0">
                <a:solidFill>
                  <a:srgbClr val="000000"/>
                </a:solidFill>
                <a:latin typeface="Lato" pitchFamily="34" charset="0"/>
                <a:ea typeface="Lato" pitchFamily="34" charset="-122"/>
                <a:cs typeface="Lato" pitchFamily="34" charset="-120"/>
              </a:rPr>
              <a:t> No Heart Disease</a:t>
            </a:r>
            <a:endParaRPr lang="en-US" sz="1250" dirty="0"/>
          </a:p>
        </p:txBody>
      </p:sp>
      <p:pic>
        <p:nvPicPr>
          <p:cNvPr id="23" name="Image 1" descr="preencoded.png"/>
          <p:cNvPicPr>
            <a:picLocks noChangeAspect="1"/>
          </p:cNvPicPr>
          <p:nvPr/>
        </p:nvPicPr>
        <p:blipFill>
          <a:blip r:embed="rId4"/>
          <a:stretch>
            <a:fillRect/>
          </a:stretch>
        </p:blipFill>
        <p:spPr>
          <a:xfrm>
            <a:off x="9184779" y="3032522"/>
            <a:ext cx="4700118" cy="4229102"/>
          </a:xfrm>
          <a:prstGeom prst="rect">
            <a:avLst/>
          </a:prstGeom>
        </p:spPr>
      </p:pic>
      <p:pic>
        <p:nvPicPr>
          <p:cNvPr id="24" name="Picture 23">
            <a:extLst>
              <a:ext uri="{FF2B5EF4-FFF2-40B4-BE49-F238E27FC236}">
                <a16:creationId xmlns:a16="http://schemas.microsoft.com/office/drawing/2014/main" id="{F47961B8-1A0A-3FAF-14E2-8BE6FB6ECEC3}"/>
              </a:ext>
            </a:extLst>
          </p:cNvPr>
          <p:cNvPicPr>
            <a:picLocks noChangeAspect="1"/>
          </p:cNvPicPr>
          <p:nvPr/>
        </p:nvPicPr>
        <p:blipFill>
          <a:blip r:embed="rId5"/>
          <a:stretch>
            <a:fillRect/>
          </a:stretch>
        </p:blipFill>
        <p:spPr>
          <a:xfrm>
            <a:off x="12645817" y="7382107"/>
            <a:ext cx="1984583" cy="8474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01184"/>
            <a:ext cx="6253043"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Machine Learning Approach</a:t>
            </a:r>
            <a:endParaRPr lang="en-US" sz="3900" dirty="0"/>
          </a:p>
        </p:txBody>
      </p:sp>
      <p:sp>
        <p:nvSpPr>
          <p:cNvPr id="4" name="Text 1"/>
          <p:cNvSpPr/>
          <p:nvPr/>
        </p:nvSpPr>
        <p:spPr>
          <a:xfrm>
            <a:off x="6280190" y="2017276"/>
            <a:ext cx="2169200"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Gelasio" pitchFamily="34" charset="0"/>
                <a:ea typeface="Gelasio" pitchFamily="34" charset="-122"/>
                <a:cs typeface="Gelasio" pitchFamily="34" charset="-120"/>
              </a:rPr>
              <a:t>Model Selection</a:t>
            </a:r>
            <a:endParaRPr lang="en-US" sz="1950" dirty="0"/>
          </a:p>
        </p:txBody>
      </p:sp>
      <p:sp>
        <p:nvSpPr>
          <p:cNvPr id="5" name="Text 2"/>
          <p:cNvSpPr/>
          <p:nvPr/>
        </p:nvSpPr>
        <p:spPr>
          <a:xfrm>
            <a:off x="6280190" y="2525792"/>
            <a:ext cx="2169200" cy="4445556"/>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A </a:t>
            </a:r>
            <a:r>
              <a:rPr lang="en-US" sz="1550" b="1" dirty="0">
                <a:solidFill>
                  <a:srgbClr val="272525"/>
                </a:solidFill>
                <a:latin typeface="Lato" pitchFamily="34" charset="0"/>
                <a:ea typeface="Lato" pitchFamily="34" charset="-122"/>
                <a:cs typeface="Lato" pitchFamily="34" charset="-120"/>
              </a:rPr>
              <a:t>Logistic Regression</a:t>
            </a:r>
            <a:r>
              <a:rPr lang="en-US" sz="1550" dirty="0">
                <a:solidFill>
                  <a:srgbClr val="272525"/>
                </a:solidFill>
                <a:latin typeface="Lato" pitchFamily="34" charset="0"/>
                <a:ea typeface="Lato" pitchFamily="34" charset="-122"/>
                <a:cs typeface="Lato" pitchFamily="34" charset="-120"/>
              </a:rPr>
              <a:t> model was selected for its exceptional balance of simplicity, interpretability, and clinical applicability. Unlike complex black-box algorithms, logistic regression provides transparent probability outputs that clinicians can readily understand and incorporate into diagnostic workflows.</a:t>
            </a:r>
            <a:endParaRPr lang="en-US" sz="1550" dirty="0"/>
          </a:p>
        </p:txBody>
      </p:sp>
      <p:sp>
        <p:nvSpPr>
          <p:cNvPr id="6" name="Text 3"/>
          <p:cNvSpPr/>
          <p:nvPr/>
        </p:nvSpPr>
        <p:spPr>
          <a:xfrm>
            <a:off x="8941118" y="2017276"/>
            <a:ext cx="2169200" cy="620316"/>
          </a:xfrm>
          <a:prstGeom prst="rect">
            <a:avLst/>
          </a:prstGeom>
          <a:noFill/>
          <a:ln/>
        </p:spPr>
        <p:txBody>
          <a:bodyPr wrap="square" lIns="0" tIns="0" rIns="0" bIns="0" rtlCol="0" anchor="t"/>
          <a:lstStyle/>
          <a:p>
            <a:pPr marL="0" indent="0" algn="l">
              <a:lnSpc>
                <a:spcPts val="2400"/>
              </a:lnSpc>
              <a:buNone/>
            </a:pPr>
            <a:r>
              <a:rPr lang="en-US" sz="1950" dirty="0">
                <a:solidFill>
                  <a:srgbClr val="312F2B"/>
                </a:solidFill>
                <a:latin typeface="Gelasio" pitchFamily="34" charset="0"/>
                <a:ea typeface="Gelasio" pitchFamily="34" charset="-122"/>
                <a:cs typeface="Gelasio" pitchFamily="34" charset="-120"/>
              </a:rPr>
              <a:t>Preprocessing Steps</a:t>
            </a:r>
            <a:endParaRPr lang="en-US" sz="1950" dirty="0"/>
          </a:p>
        </p:txBody>
      </p:sp>
      <p:sp>
        <p:nvSpPr>
          <p:cNvPr id="7" name="Text 4"/>
          <p:cNvSpPr/>
          <p:nvPr/>
        </p:nvSpPr>
        <p:spPr>
          <a:xfrm>
            <a:off x="8941118" y="2835950"/>
            <a:ext cx="2169200" cy="158769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Lato" pitchFamily="34" charset="0"/>
                <a:ea typeface="Lato" pitchFamily="34" charset="-122"/>
                <a:cs typeface="Lato" pitchFamily="34" charset="-120"/>
              </a:rPr>
              <a:t>Missing value imputation using median (numeric) and mode (categorical)</a:t>
            </a:r>
            <a:endParaRPr lang="en-US" sz="1550" dirty="0"/>
          </a:p>
        </p:txBody>
      </p:sp>
      <p:sp>
        <p:nvSpPr>
          <p:cNvPr id="8" name="Text 5"/>
          <p:cNvSpPr/>
          <p:nvPr/>
        </p:nvSpPr>
        <p:spPr>
          <a:xfrm>
            <a:off x="8941118" y="4493062"/>
            <a:ext cx="2169200"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Lato" pitchFamily="34" charset="0"/>
                <a:ea typeface="Lato" pitchFamily="34" charset="-122"/>
                <a:cs typeface="Lato" pitchFamily="34" charset="-120"/>
              </a:rPr>
              <a:t>Feature scaling for numeric variables</a:t>
            </a:r>
            <a:endParaRPr lang="en-US" sz="1550" dirty="0"/>
          </a:p>
        </p:txBody>
      </p:sp>
      <p:sp>
        <p:nvSpPr>
          <p:cNvPr id="9" name="Text 6"/>
          <p:cNvSpPr/>
          <p:nvPr/>
        </p:nvSpPr>
        <p:spPr>
          <a:xfrm>
            <a:off x="8941118" y="5197554"/>
            <a:ext cx="2169200" cy="95261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Lato" pitchFamily="34" charset="0"/>
                <a:ea typeface="Lato" pitchFamily="34" charset="-122"/>
                <a:cs typeface="Lato" pitchFamily="34" charset="-120"/>
              </a:rPr>
              <a:t>One-hot encoding for categorical features</a:t>
            </a:r>
            <a:endParaRPr lang="en-US" sz="1550" dirty="0"/>
          </a:p>
        </p:txBody>
      </p:sp>
      <p:sp>
        <p:nvSpPr>
          <p:cNvPr id="10" name="Text 7"/>
          <p:cNvSpPr/>
          <p:nvPr/>
        </p:nvSpPr>
        <p:spPr>
          <a:xfrm>
            <a:off x="8941118" y="6219587"/>
            <a:ext cx="2169200"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Lato" pitchFamily="34" charset="0"/>
                <a:ea typeface="Lato" pitchFamily="34" charset="-122"/>
                <a:cs typeface="Lato" pitchFamily="34" charset="-120"/>
              </a:rPr>
              <a:t>Data validation and quality checks</a:t>
            </a:r>
            <a:endParaRPr lang="en-US" sz="1550" dirty="0"/>
          </a:p>
        </p:txBody>
      </p:sp>
      <p:sp>
        <p:nvSpPr>
          <p:cNvPr id="11" name="Text 8"/>
          <p:cNvSpPr/>
          <p:nvPr/>
        </p:nvSpPr>
        <p:spPr>
          <a:xfrm>
            <a:off x="11602045" y="2017276"/>
            <a:ext cx="2249567"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Gelasio" pitchFamily="34" charset="0"/>
                <a:ea typeface="Gelasio" pitchFamily="34" charset="-122"/>
                <a:cs typeface="Gelasio" pitchFamily="34" charset="-120"/>
              </a:rPr>
              <a:t>Model Training</a:t>
            </a:r>
            <a:endParaRPr lang="en-US" sz="1950" dirty="0"/>
          </a:p>
        </p:txBody>
      </p:sp>
      <p:sp>
        <p:nvSpPr>
          <p:cNvPr id="12" name="Text 9"/>
          <p:cNvSpPr/>
          <p:nvPr/>
        </p:nvSpPr>
        <p:spPr>
          <a:xfrm>
            <a:off x="11602045" y="2525792"/>
            <a:ext cx="2249567"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The dataset was strategically partitioned:</a:t>
            </a:r>
            <a:endParaRPr lang="en-US" sz="1550" dirty="0"/>
          </a:p>
        </p:txBody>
      </p:sp>
      <p:sp>
        <p:nvSpPr>
          <p:cNvPr id="13" name="Text 10"/>
          <p:cNvSpPr/>
          <p:nvPr/>
        </p:nvSpPr>
        <p:spPr>
          <a:xfrm>
            <a:off x="11602045" y="3339465"/>
            <a:ext cx="2249567"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70%</a:t>
            </a:r>
            <a:r>
              <a:rPr lang="en-US" sz="1550" dirty="0">
                <a:solidFill>
                  <a:srgbClr val="272525"/>
                </a:solidFill>
                <a:latin typeface="Lato" pitchFamily="34" charset="0"/>
                <a:ea typeface="Lato" pitchFamily="34" charset="-122"/>
                <a:cs typeface="Lato" pitchFamily="34" charset="-120"/>
              </a:rPr>
              <a:t> Training set</a:t>
            </a:r>
            <a:endParaRPr lang="en-US" sz="1550" dirty="0"/>
          </a:p>
        </p:txBody>
      </p:sp>
      <p:sp>
        <p:nvSpPr>
          <p:cNvPr id="14" name="Text 11"/>
          <p:cNvSpPr/>
          <p:nvPr/>
        </p:nvSpPr>
        <p:spPr>
          <a:xfrm>
            <a:off x="11602045" y="3726418"/>
            <a:ext cx="2249567"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15%</a:t>
            </a:r>
            <a:r>
              <a:rPr lang="en-US" sz="1550" dirty="0">
                <a:solidFill>
                  <a:srgbClr val="272525"/>
                </a:solidFill>
                <a:latin typeface="Lato" pitchFamily="34" charset="0"/>
                <a:ea typeface="Lato" pitchFamily="34" charset="-122"/>
                <a:cs typeface="Lato" pitchFamily="34" charset="-120"/>
              </a:rPr>
              <a:t> Validation set</a:t>
            </a:r>
            <a:endParaRPr lang="en-US" sz="1550" dirty="0"/>
          </a:p>
        </p:txBody>
      </p:sp>
      <p:sp>
        <p:nvSpPr>
          <p:cNvPr id="15" name="Text 12"/>
          <p:cNvSpPr/>
          <p:nvPr/>
        </p:nvSpPr>
        <p:spPr>
          <a:xfrm>
            <a:off x="11602045" y="4113371"/>
            <a:ext cx="2249567"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15%</a:t>
            </a:r>
            <a:r>
              <a:rPr lang="en-US" sz="1550" dirty="0">
                <a:solidFill>
                  <a:srgbClr val="272525"/>
                </a:solidFill>
                <a:latin typeface="Lato" pitchFamily="34" charset="0"/>
                <a:ea typeface="Lato" pitchFamily="34" charset="-122"/>
                <a:cs typeface="Lato" pitchFamily="34" charset="-120"/>
              </a:rPr>
              <a:t> Testing set</a:t>
            </a:r>
            <a:endParaRPr lang="en-US" sz="1550" dirty="0"/>
          </a:p>
        </p:txBody>
      </p:sp>
      <p:sp>
        <p:nvSpPr>
          <p:cNvPr id="16" name="Text 13"/>
          <p:cNvSpPr/>
          <p:nvPr/>
        </p:nvSpPr>
        <p:spPr>
          <a:xfrm>
            <a:off x="11602045" y="4609505"/>
            <a:ext cx="2249567" cy="254031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The optimal classification threshold was determined using Youden's J statistic, prioritising recall to minimise false negatives—a critical consideration in medical screening.</a:t>
            </a:r>
            <a:endParaRPr lang="en-US" sz="1550" dirty="0"/>
          </a:p>
        </p:txBody>
      </p:sp>
      <p:pic>
        <p:nvPicPr>
          <p:cNvPr id="17" name="Picture 16">
            <a:extLst>
              <a:ext uri="{FF2B5EF4-FFF2-40B4-BE49-F238E27FC236}">
                <a16:creationId xmlns:a16="http://schemas.microsoft.com/office/drawing/2014/main" id="{86CAF8AE-5B90-3EA7-932F-2E24DD4328B9}"/>
              </a:ext>
            </a:extLst>
          </p:cNvPr>
          <p:cNvPicPr>
            <a:picLocks noChangeAspect="1"/>
          </p:cNvPicPr>
          <p:nvPr/>
        </p:nvPicPr>
        <p:blipFill>
          <a:blip r:embed="rId4"/>
          <a:stretch>
            <a:fillRect/>
          </a:stretch>
        </p:blipFill>
        <p:spPr>
          <a:xfrm>
            <a:off x="12645817" y="7382107"/>
            <a:ext cx="1984583" cy="8474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80417" y="330279"/>
            <a:ext cx="4420433" cy="375285"/>
          </a:xfrm>
          <a:prstGeom prst="rect">
            <a:avLst/>
          </a:prstGeom>
          <a:noFill/>
          <a:ln/>
        </p:spPr>
        <p:txBody>
          <a:bodyPr wrap="none" lIns="0" tIns="0" rIns="0" bIns="0" rtlCol="0" anchor="t"/>
          <a:lstStyle/>
          <a:p>
            <a:pPr marL="0" indent="0" algn="l">
              <a:lnSpc>
                <a:spcPts val="2950"/>
              </a:lnSpc>
              <a:buNone/>
            </a:pPr>
            <a:r>
              <a:rPr lang="en-US" sz="4000" b="1" dirty="0">
                <a:solidFill>
                  <a:srgbClr val="312F2B"/>
                </a:solidFill>
                <a:latin typeface="Garamond" panose="02020404030301010803" pitchFamily="18" charset="0"/>
                <a:ea typeface="Gelasio" pitchFamily="34" charset="-122"/>
                <a:cs typeface="Gelasio" pitchFamily="34" charset="-120"/>
              </a:rPr>
              <a:t>Model Evaluation &amp; Performance</a:t>
            </a:r>
            <a:endParaRPr lang="en-US" sz="4000" b="1" dirty="0">
              <a:latin typeface="Garamond" panose="02020404030301010803" pitchFamily="18" charset="0"/>
            </a:endParaRPr>
          </a:p>
        </p:txBody>
      </p:sp>
      <p:sp>
        <p:nvSpPr>
          <p:cNvPr id="3" name="Text 1"/>
          <p:cNvSpPr/>
          <p:nvPr/>
        </p:nvSpPr>
        <p:spPr>
          <a:xfrm>
            <a:off x="480417" y="945713"/>
            <a:ext cx="13669566" cy="384334"/>
          </a:xfrm>
          <a:prstGeom prst="rect">
            <a:avLst/>
          </a:prstGeom>
          <a:noFill/>
          <a:ln/>
        </p:spPr>
        <p:txBody>
          <a:bodyPr wrap="square" lIns="0" tIns="0" rIns="0" bIns="0" rtlCol="0" anchor="t"/>
          <a:lstStyle/>
          <a:p>
            <a:pPr marL="0" indent="0" algn="l">
              <a:lnSpc>
                <a:spcPts val="1500"/>
              </a:lnSpc>
              <a:buNone/>
            </a:pPr>
            <a:r>
              <a:rPr lang="en-US" sz="900" dirty="0">
                <a:solidFill>
                  <a:srgbClr val="272525"/>
                </a:solidFill>
                <a:latin typeface="Lato" pitchFamily="34" charset="0"/>
                <a:ea typeface="Lato" pitchFamily="34" charset="-122"/>
                <a:cs typeface="Lato" pitchFamily="34" charset="-120"/>
              </a:rPr>
              <a:t>The model's performance was rigorously assessed using multiple evaluation metrics to ensure clinical reliability and robustness. In medical prediction tasks, recall (sensitivity) is particularly crucial as it measures the model's ability to correctly identify patients with heart disease, thereby minimising potentially dangerous false negatives.</a:t>
            </a:r>
            <a:endParaRPr lang="en-US" sz="900" dirty="0"/>
          </a:p>
        </p:txBody>
      </p:sp>
      <p:sp>
        <p:nvSpPr>
          <p:cNvPr id="4" name="Text 2"/>
          <p:cNvSpPr/>
          <p:nvPr/>
        </p:nvSpPr>
        <p:spPr>
          <a:xfrm>
            <a:off x="480417" y="1525191"/>
            <a:ext cx="3304699" cy="396359"/>
          </a:xfrm>
          <a:prstGeom prst="rect">
            <a:avLst/>
          </a:prstGeom>
          <a:noFill/>
          <a:ln/>
        </p:spPr>
        <p:txBody>
          <a:bodyPr wrap="none" lIns="0" tIns="0" rIns="0" bIns="0" rtlCol="0" anchor="t"/>
          <a:lstStyle/>
          <a:p>
            <a:pPr marL="0" indent="0" algn="ctr">
              <a:lnSpc>
                <a:spcPts val="3100"/>
              </a:lnSpc>
              <a:buNone/>
            </a:pPr>
            <a:r>
              <a:rPr lang="en-US" sz="3100" dirty="0">
                <a:solidFill>
                  <a:srgbClr val="272525"/>
                </a:solidFill>
                <a:latin typeface="Gelasio" pitchFamily="34" charset="0"/>
                <a:ea typeface="Gelasio" pitchFamily="34" charset="-122"/>
                <a:cs typeface="Gelasio" pitchFamily="34" charset="-120"/>
              </a:rPr>
              <a:t>87%</a:t>
            </a:r>
            <a:endParaRPr lang="en-US" sz="3100" dirty="0"/>
          </a:p>
        </p:txBody>
      </p:sp>
      <p:sp>
        <p:nvSpPr>
          <p:cNvPr id="5" name="Text 3"/>
          <p:cNvSpPr/>
          <p:nvPr/>
        </p:nvSpPr>
        <p:spPr>
          <a:xfrm>
            <a:off x="1381958" y="2071568"/>
            <a:ext cx="1501616" cy="187643"/>
          </a:xfrm>
          <a:prstGeom prst="rect">
            <a:avLst/>
          </a:prstGeom>
          <a:noFill/>
          <a:ln/>
        </p:spPr>
        <p:txBody>
          <a:bodyPr wrap="none" lIns="0" tIns="0" rIns="0" bIns="0" rtlCol="0" anchor="t"/>
          <a:lstStyle/>
          <a:p>
            <a:pPr marL="0" indent="0" algn="ctr">
              <a:lnSpc>
                <a:spcPts val="1450"/>
              </a:lnSpc>
              <a:buNone/>
            </a:pPr>
            <a:r>
              <a:rPr lang="en-US" sz="1150" dirty="0">
                <a:solidFill>
                  <a:srgbClr val="272525"/>
                </a:solidFill>
                <a:latin typeface="Gelasio" pitchFamily="34" charset="0"/>
                <a:ea typeface="Gelasio" pitchFamily="34" charset="-122"/>
                <a:cs typeface="Gelasio" pitchFamily="34" charset="-120"/>
              </a:rPr>
              <a:t>Accuracy</a:t>
            </a:r>
            <a:endParaRPr lang="en-US" sz="1150" dirty="0"/>
          </a:p>
        </p:txBody>
      </p:sp>
      <p:sp>
        <p:nvSpPr>
          <p:cNvPr id="6" name="Text 4"/>
          <p:cNvSpPr/>
          <p:nvPr/>
        </p:nvSpPr>
        <p:spPr>
          <a:xfrm>
            <a:off x="480417" y="2331244"/>
            <a:ext cx="3304699" cy="192167"/>
          </a:xfrm>
          <a:prstGeom prst="rect">
            <a:avLst/>
          </a:prstGeom>
          <a:noFill/>
          <a:ln/>
        </p:spPr>
        <p:txBody>
          <a:bodyPr wrap="none" lIns="0" tIns="0" rIns="0" bIns="0" rtlCol="0" anchor="t"/>
          <a:lstStyle/>
          <a:p>
            <a:pPr marL="0" indent="0" algn="ctr">
              <a:lnSpc>
                <a:spcPts val="1500"/>
              </a:lnSpc>
              <a:buNone/>
            </a:pPr>
            <a:r>
              <a:rPr lang="en-US" sz="900" dirty="0">
                <a:solidFill>
                  <a:srgbClr val="272525"/>
                </a:solidFill>
                <a:latin typeface="Lato" pitchFamily="34" charset="0"/>
                <a:ea typeface="Lato" pitchFamily="34" charset="-122"/>
                <a:cs typeface="Lato" pitchFamily="34" charset="-120"/>
              </a:rPr>
              <a:t>Overall prediction correctness</a:t>
            </a:r>
            <a:endParaRPr lang="en-US" sz="900" dirty="0"/>
          </a:p>
        </p:txBody>
      </p:sp>
      <p:sp>
        <p:nvSpPr>
          <p:cNvPr id="7" name="Text 5"/>
          <p:cNvSpPr/>
          <p:nvPr/>
        </p:nvSpPr>
        <p:spPr>
          <a:xfrm>
            <a:off x="3935254" y="1525191"/>
            <a:ext cx="3304818" cy="396359"/>
          </a:xfrm>
          <a:prstGeom prst="rect">
            <a:avLst/>
          </a:prstGeom>
          <a:noFill/>
          <a:ln/>
        </p:spPr>
        <p:txBody>
          <a:bodyPr wrap="none" lIns="0" tIns="0" rIns="0" bIns="0" rtlCol="0" anchor="t"/>
          <a:lstStyle/>
          <a:p>
            <a:pPr marL="0" indent="0" algn="ctr">
              <a:lnSpc>
                <a:spcPts val="3100"/>
              </a:lnSpc>
              <a:buNone/>
            </a:pPr>
            <a:r>
              <a:rPr lang="en-US" sz="3100" dirty="0">
                <a:solidFill>
                  <a:srgbClr val="272525"/>
                </a:solidFill>
                <a:latin typeface="Gelasio" pitchFamily="34" charset="0"/>
                <a:ea typeface="Gelasio" pitchFamily="34" charset="-122"/>
                <a:cs typeface="Gelasio" pitchFamily="34" charset="-120"/>
              </a:rPr>
              <a:t>85%</a:t>
            </a:r>
            <a:endParaRPr lang="en-US" sz="3100" dirty="0"/>
          </a:p>
        </p:txBody>
      </p:sp>
      <p:sp>
        <p:nvSpPr>
          <p:cNvPr id="8" name="Text 6"/>
          <p:cNvSpPr/>
          <p:nvPr/>
        </p:nvSpPr>
        <p:spPr>
          <a:xfrm>
            <a:off x="4836795" y="2071568"/>
            <a:ext cx="1501616" cy="187643"/>
          </a:xfrm>
          <a:prstGeom prst="rect">
            <a:avLst/>
          </a:prstGeom>
          <a:noFill/>
          <a:ln/>
        </p:spPr>
        <p:txBody>
          <a:bodyPr wrap="none" lIns="0" tIns="0" rIns="0" bIns="0" rtlCol="0" anchor="t"/>
          <a:lstStyle/>
          <a:p>
            <a:pPr marL="0" indent="0" algn="ctr">
              <a:lnSpc>
                <a:spcPts val="1450"/>
              </a:lnSpc>
              <a:buNone/>
            </a:pPr>
            <a:r>
              <a:rPr lang="en-US" sz="1150" dirty="0">
                <a:solidFill>
                  <a:srgbClr val="272525"/>
                </a:solidFill>
                <a:latin typeface="Gelasio" pitchFamily="34" charset="0"/>
                <a:ea typeface="Gelasio" pitchFamily="34" charset="-122"/>
                <a:cs typeface="Gelasio" pitchFamily="34" charset="-120"/>
              </a:rPr>
              <a:t>Precision</a:t>
            </a:r>
            <a:endParaRPr lang="en-US" sz="1150" dirty="0"/>
          </a:p>
        </p:txBody>
      </p:sp>
      <p:sp>
        <p:nvSpPr>
          <p:cNvPr id="9" name="Text 7"/>
          <p:cNvSpPr/>
          <p:nvPr/>
        </p:nvSpPr>
        <p:spPr>
          <a:xfrm>
            <a:off x="3935254" y="2331244"/>
            <a:ext cx="3304818" cy="192167"/>
          </a:xfrm>
          <a:prstGeom prst="rect">
            <a:avLst/>
          </a:prstGeom>
          <a:noFill/>
          <a:ln/>
        </p:spPr>
        <p:txBody>
          <a:bodyPr wrap="none" lIns="0" tIns="0" rIns="0" bIns="0" rtlCol="0" anchor="t"/>
          <a:lstStyle/>
          <a:p>
            <a:pPr marL="0" indent="0" algn="ctr">
              <a:lnSpc>
                <a:spcPts val="1500"/>
              </a:lnSpc>
              <a:buNone/>
            </a:pPr>
            <a:r>
              <a:rPr lang="en-US" sz="900" dirty="0">
                <a:solidFill>
                  <a:srgbClr val="272525"/>
                </a:solidFill>
                <a:latin typeface="Lato" pitchFamily="34" charset="0"/>
                <a:ea typeface="Lato" pitchFamily="34" charset="-122"/>
                <a:cs typeface="Lato" pitchFamily="34" charset="-120"/>
              </a:rPr>
              <a:t>Positive prediction reliability</a:t>
            </a:r>
            <a:endParaRPr lang="en-US" sz="900" dirty="0"/>
          </a:p>
        </p:txBody>
      </p:sp>
      <p:sp>
        <p:nvSpPr>
          <p:cNvPr id="10" name="Text 8"/>
          <p:cNvSpPr/>
          <p:nvPr/>
        </p:nvSpPr>
        <p:spPr>
          <a:xfrm>
            <a:off x="7390209" y="1525191"/>
            <a:ext cx="3304818" cy="396359"/>
          </a:xfrm>
          <a:prstGeom prst="rect">
            <a:avLst/>
          </a:prstGeom>
          <a:noFill/>
          <a:ln/>
        </p:spPr>
        <p:txBody>
          <a:bodyPr wrap="none" lIns="0" tIns="0" rIns="0" bIns="0" rtlCol="0" anchor="t"/>
          <a:lstStyle/>
          <a:p>
            <a:pPr marL="0" indent="0" algn="ctr">
              <a:lnSpc>
                <a:spcPts val="3100"/>
              </a:lnSpc>
              <a:buNone/>
            </a:pPr>
            <a:r>
              <a:rPr lang="en-US" sz="3100" dirty="0">
                <a:solidFill>
                  <a:srgbClr val="272525"/>
                </a:solidFill>
                <a:latin typeface="Gelasio" pitchFamily="34" charset="0"/>
                <a:ea typeface="Gelasio" pitchFamily="34" charset="-122"/>
                <a:cs typeface="Gelasio" pitchFamily="34" charset="-120"/>
              </a:rPr>
              <a:t>91%</a:t>
            </a:r>
            <a:endParaRPr lang="en-US" sz="3100" dirty="0"/>
          </a:p>
        </p:txBody>
      </p:sp>
      <p:sp>
        <p:nvSpPr>
          <p:cNvPr id="11" name="Text 9"/>
          <p:cNvSpPr/>
          <p:nvPr/>
        </p:nvSpPr>
        <p:spPr>
          <a:xfrm>
            <a:off x="8291751" y="2071568"/>
            <a:ext cx="1501616" cy="187643"/>
          </a:xfrm>
          <a:prstGeom prst="rect">
            <a:avLst/>
          </a:prstGeom>
          <a:noFill/>
          <a:ln/>
        </p:spPr>
        <p:txBody>
          <a:bodyPr wrap="none" lIns="0" tIns="0" rIns="0" bIns="0" rtlCol="0" anchor="t"/>
          <a:lstStyle/>
          <a:p>
            <a:pPr marL="0" indent="0" algn="ctr">
              <a:lnSpc>
                <a:spcPts val="1450"/>
              </a:lnSpc>
              <a:buNone/>
            </a:pPr>
            <a:r>
              <a:rPr lang="en-US" sz="1150" dirty="0">
                <a:solidFill>
                  <a:srgbClr val="272525"/>
                </a:solidFill>
                <a:latin typeface="Gelasio" pitchFamily="34" charset="0"/>
                <a:ea typeface="Gelasio" pitchFamily="34" charset="-122"/>
                <a:cs typeface="Gelasio" pitchFamily="34" charset="-120"/>
              </a:rPr>
              <a:t>Recall</a:t>
            </a:r>
            <a:endParaRPr lang="en-US" sz="1150" dirty="0"/>
          </a:p>
        </p:txBody>
      </p:sp>
      <p:sp>
        <p:nvSpPr>
          <p:cNvPr id="12" name="Text 10"/>
          <p:cNvSpPr/>
          <p:nvPr/>
        </p:nvSpPr>
        <p:spPr>
          <a:xfrm>
            <a:off x="7390209" y="2331244"/>
            <a:ext cx="3304818" cy="192167"/>
          </a:xfrm>
          <a:prstGeom prst="rect">
            <a:avLst/>
          </a:prstGeom>
          <a:noFill/>
          <a:ln/>
        </p:spPr>
        <p:txBody>
          <a:bodyPr wrap="none" lIns="0" tIns="0" rIns="0" bIns="0" rtlCol="0" anchor="t"/>
          <a:lstStyle/>
          <a:p>
            <a:pPr marL="0" indent="0" algn="ctr">
              <a:lnSpc>
                <a:spcPts val="1500"/>
              </a:lnSpc>
              <a:buNone/>
            </a:pPr>
            <a:r>
              <a:rPr lang="en-US" sz="900" dirty="0">
                <a:solidFill>
                  <a:srgbClr val="272525"/>
                </a:solidFill>
                <a:latin typeface="Lato" pitchFamily="34" charset="0"/>
                <a:ea typeface="Lato" pitchFamily="34" charset="-122"/>
                <a:cs typeface="Lato" pitchFamily="34" charset="-120"/>
              </a:rPr>
              <a:t>Disease detection rate</a:t>
            </a:r>
            <a:endParaRPr lang="en-US" sz="900" dirty="0"/>
          </a:p>
        </p:txBody>
      </p:sp>
      <p:sp>
        <p:nvSpPr>
          <p:cNvPr id="13" name="Text 11"/>
          <p:cNvSpPr/>
          <p:nvPr/>
        </p:nvSpPr>
        <p:spPr>
          <a:xfrm>
            <a:off x="10845165" y="1525191"/>
            <a:ext cx="3304818" cy="396359"/>
          </a:xfrm>
          <a:prstGeom prst="rect">
            <a:avLst/>
          </a:prstGeom>
          <a:noFill/>
          <a:ln/>
        </p:spPr>
        <p:txBody>
          <a:bodyPr wrap="none" lIns="0" tIns="0" rIns="0" bIns="0" rtlCol="0" anchor="t"/>
          <a:lstStyle/>
          <a:p>
            <a:pPr marL="0" indent="0" algn="ctr">
              <a:lnSpc>
                <a:spcPts val="3100"/>
              </a:lnSpc>
              <a:buNone/>
            </a:pPr>
            <a:r>
              <a:rPr lang="en-US" sz="3100" dirty="0">
                <a:solidFill>
                  <a:srgbClr val="272525"/>
                </a:solidFill>
                <a:latin typeface="Gelasio" pitchFamily="34" charset="0"/>
                <a:ea typeface="Gelasio" pitchFamily="34" charset="-122"/>
                <a:cs typeface="Gelasio" pitchFamily="34" charset="-120"/>
              </a:rPr>
              <a:t>0.88</a:t>
            </a:r>
            <a:endParaRPr lang="en-US" sz="3100" dirty="0"/>
          </a:p>
        </p:txBody>
      </p:sp>
      <p:sp>
        <p:nvSpPr>
          <p:cNvPr id="14" name="Text 12"/>
          <p:cNvSpPr/>
          <p:nvPr/>
        </p:nvSpPr>
        <p:spPr>
          <a:xfrm>
            <a:off x="11746706" y="2071568"/>
            <a:ext cx="1501616" cy="187643"/>
          </a:xfrm>
          <a:prstGeom prst="rect">
            <a:avLst/>
          </a:prstGeom>
          <a:noFill/>
          <a:ln/>
        </p:spPr>
        <p:txBody>
          <a:bodyPr wrap="none" lIns="0" tIns="0" rIns="0" bIns="0" rtlCol="0" anchor="t"/>
          <a:lstStyle/>
          <a:p>
            <a:pPr marL="0" indent="0" algn="ctr">
              <a:lnSpc>
                <a:spcPts val="1450"/>
              </a:lnSpc>
              <a:buNone/>
            </a:pPr>
            <a:r>
              <a:rPr lang="en-US" sz="1150" dirty="0">
                <a:solidFill>
                  <a:srgbClr val="272525"/>
                </a:solidFill>
                <a:latin typeface="Gelasio" pitchFamily="34" charset="0"/>
                <a:ea typeface="Gelasio" pitchFamily="34" charset="-122"/>
                <a:cs typeface="Gelasio" pitchFamily="34" charset="-120"/>
              </a:rPr>
              <a:t>ROC-AUC</a:t>
            </a:r>
            <a:endParaRPr lang="en-US" sz="1150" dirty="0"/>
          </a:p>
        </p:txBody>
      </p:sp>
      <p:sp>
        <p:nvSpPr>
          <p:cNvPr id="15" name="Text 13"/>
          <p:cNvSpPr/>
          <p:nvPr/>
        </p:nvSpPr>
        <p:spPr>
          <a:xfrm>
            <a:off x="10845165" y="2331244"/>
            <a:ext cx="3304818" cy="192167"/>
          </a:xfrm>
          <a:prstGeom prst="rect">
            <a:avLst/>
          </a:prstGeom>
          <a:noFill/>
          <a:ln/>
        </p:spPr>
        <p:txBody>
          <a:bodyPr wrap="none" lIns="0" tIns="0" rIns="0" bIns="0" rtlCol="0" anchor="t"/>
          <a:lstStyle/>
          <a:p>
            <a:pPr marL="0" indent="0" algn="ctr">
              <a:lnSpc>
                <a:spcPts val="1500"/>
              </a:lnSpc>
              <a:buNone/>
            </a:pPr>
            <a:r>
              <a:rPr lang="en-US" sz="900" dirty="0">
                <a:solidFill>
                  <a:srgbClr val="272525"/>
                </a:solidFill>
                <a:latin typeface="Lato" pitchFamily="34" charset="0"/>
                <a:ea typeface="Lato" pitchFamily="34" charset="-122"/>
                <a:cs typeface="Lato" pitchFamily="34" charset="-120"/>
              </a:rPr>
              <a:t>Discrimination ability</a:t>
            </a:r>
            <a:endParaRPr lang="en-US" sz="900" dirty="0"/>
          </a:p>
        </p:txBody>
      </p:sp>
      <p:pic>
        <p:nvPicPr>
          <p:cNvPr id="16" name="Image 0" descr="preencoded.png"/>
          <p:cNvPicPr>
            <a:picLocks noChangeAspect="1"/>
          </p:cNvPicPr>
          <p:nvPr/>
        </p:nvPicPr>
        <p:blipFill>
          <a:blip r:embed="rId3"/>
          <a:stretch>
            <a:fillRect/>
          </a:stretch>
        </p:blipFill>
        <p:spPr>
          <a:xfrm>
            <a:off x="563103" y="2933105"/>
            <a:ext cx="4812992" cy="4812992"/>
          </a:xfrm>
          <a:prstGeom prst="rect">
            <a:avLst/>
          </a:prstGeom>
        </p:spPr>
      </p:pic>
      <p:pic>
        <p:nvPicPr>
          <p:cNvPr id="17" name="Image 1" descr="preencoded.png"/>
          <p:cNvPicPr>
            <a:picLocks noChangeAspect="1"/>
          </p:cNvPicPr>
          <p:nvPr/>
        </p:nvPicPr>
        <p:blipFill>
          <a:blip r:embed="rId4"/>
          <a:stretch>
            <a:fillRect/>
          </a:stretch>
        </p:blipFill>
        <p:spPr>
          <a:xfrm>
            <a:off x="5506653" y="3461087"/>
            <a:ext cx="6082110" cy="4490205"/>
          </a:xfrm>
          <a:prstGeom prst="rect">
            <a:avLst/>
          </a:prstGeom>
        </p:spPr>
      </p:pic>
      <p:pic>
        <p:nvPicPr>
          <p:cNvPr id="18" name="Picture 17">
            <a:extLst>
              <a:ext uri="{FF2B5EF4-FFF2-40B4-BE49-F238E27FC236}">
                <a16:creationId xmlns:a16="http://schemas.microsoft.com/office/drawing/2014/main" id="{8C55CF40-FB14-1660-D1BB-9789A5186832}"/>
              </a:ext>
            </a:extLst>
          </p:cNvPr>
          <p:cNvPicPr>
            <a:picLocks noChangeAspect="1"/>
          </p:cNvPicPr>
          <p:nvPr/>
        </p:nvPicPr>
        <p:blipFill>
          <a:blip r:embed="rId5"/>
          <a:stretch>
            <a:fillRect/>
          </a:stretch>
        </p:blipFill>
        <p:spPr>
          <a:xfrm>
            <a:off x="12645817" y="7382107"/>
            <a:ext cx="1984583" cy="8474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15420" y="928092"/>
            <a:ext cx="7627977" cy="569476"/>
          </a:xfrm>
          <a:prstGeom prst="rect">
            <a:avLst/>
          </a:prstGeom>
          <a:noFill/>
          <a:ln/>
        </p:spPr>
        <p:txBody>
          <a:bodyPr wrap="none" lIns="0" tIns="0" rIns="0" bIns="0" rtlCol="0" anchor="t"/>
          <a:lstStyle/>
          <a:p>
            <a:pPr marL="0" indent="0" algn="l">
              <a:lnSpc>
                <a:spcPts val="4450"/>
              </a:lnSpc>
              <a:buNone/>
            </a:pPr>
            <a:r>
              <a:rPr lang="en-US" sz="3550" b="1" dirty="0">
                <a:solidFill>
                  <a:srgbClr val="312F2B"/>
                </a:solidFill>
                <a:latin typeface="Garamond" panose="02020404030301010803" pitchFamily="18" charset="0"/>
                <a:ea typeface="Gelasio" pitchFamily="34" charset="-122"/>
                <a:cs typeface="Gelasio" pitchFamily="34" charset="-120"/>
              </a:rPr>
              <a:t>Understanding the Prediction Process</a:t>
            </a:r>
            <a:endParaRPr lang="en-US" sz="3550" b="1" dirty="0">
              <a:latin typeface="Garamond" panose="02020404030301010803" pitchFamily="18" charset="0"/>
            </a:endParaRPr>
          </a:p>
        </p:txBody>
      </p:sp>
      <p:sp>
        <p:nvSpPr>
          <p:cNvPr id="4" name="Text 1"/>
          <p:cNvSpPr/>
          <p:nvPr/>
        </p:nvSpPr>
        <p:spPr>
          <a:xfrm>
            <a:off x="6215420" y="1770936"/>
            <a:ext cx="182166" cy="227767"/>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Gelasio Light" pitchFamily="34" charset="0"/>
                <a:ea typeface="Gelasio Light" pitchFamily="34" charset="-122"/>
                <a:cs typeface="Gelasio Light" pitchFamily="34" charset="-120"/>
              </a:rPr>
              <a:t>01</a:t>
            </a:r>
            <a:endParaRPr lang="en-US" sz="1400" dirty="0"/>
          </a:p>
        </p:txBody>
      </p:sp>
      <p:sp>
        <p:nvSpPr>
          <p:cNvPr id="5" name="Shape 2"/>
          <p:cNvSpPr/>
          <p:nvPr/>
        </p:nvSpPr>
        <p:spPr>
          <a:xfrm>
            <a:off x="6215420" y="2057757"/>
            <a:ext cx="7685961" cy="22860"/>
          </a:xfrm>
          <a:prstGeom prst="rect">
            <a:avLst/>
          </a:prstGeom>
          <a:solidFill>
            <a:srgbClr val="E5E5E0"/>
          </a:solidFill>
          <a:ln/>
        </p:spPr>
      </p:sp>
      <p:sp>
        <p:nvSpPr>
          <p:cNvPr id="6" name="Text 3"/>
          <p:cNvSpPr/>
          <p:nvPr/>
        </p:nvSpPr>
        <p:spPr>
          <a:xfrm>
            <a:off x="6215420" y="2194560"/>
            <a:ext cx="2278380" cy="284798"/>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Gelasio" pitchFamily="34" charset="0"/>
                <a:ea typeface="Gelasio" pitchFamily="34" charset="-122"/>
                <a:cs typeface="Gelasio" pitchFamily="34" charset="-120"/>
              </a:rPr>
              <a:t>Patient Data Input</a:t>
            </a:r>
            <a:endParaRPr lang="en-US" sz="1750" dirty="0"/>
          </a:p>
        </p:txBody>
      </p:sp>
      <p:sp>
        <p:nvSpPr>
          <p:cNvPr id="7" name="Text 4"/>
          <p:cNvSpPr/>
          <p:nvPr/>
        </p:nvSpPr>
        <p:spPr>
          <a:xfrm>
            <a:off x="6215420" y="2588657"/>
            <a:ext cx="7685961" cy="29158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Clinical measurements and patient history are collected and entered into the system</a:t>
            </a:r>
            <a:endParaRPr lang="en-US" sz="1400" dirty="0"/>
          </a:p>
        </p:txBody>
      </p:sp>
      <p:sp>
        <p:nvSpPr>
          <p:cNvPr id="8" name="Text 5"/>
          <p:cNvSpPr/>
          <p:nvPr/>
        </p:nvSpPr>
        <p:spPr>
          <a:xfrm>
            <a:off x="6215420" y="3199090"/>
            <a:ext cx="182166" cy="227767"/>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Gelasio Light" pitchFamily="34" charset="0"/>
                <a:ea typeface="Gelasio Light" pitchFamily="34" charset="-122"/>
                <a:cs typeface="Gelasio Light" pitchFamily="34" charset="-120"/>
              </a:rPr>
              <a:t>02</a:t>
            </a:r>
            <a:endParaRPr lang="en-US" sz="1400" dirty="0"/>
          </a:p>
        </p:txBody>
      </p:sp>
      <p:sp>
        <p:nvSpPr>
          <p:cNvPr id="9" name="Shape 6"/>
          <p:cNvSpPr/>
          <p:nvPr/>
        </p:nvSpPr>
        <p:spPr>
          <a:xfrm>
            <a:off x="6215420" y="3485912"/>
            <a:ext cx="7685961" cy="22860"/>
          </a:xfrm>
          <a:prstGeom prst="rect">
            <a:avLst/>
          </a:prstGeom>
          <a:solidFill>
            <a:srgbClr val="E5E5E0"/>
          </a:solidFill>
          <a:ln/>
        </p:spPr>
      </p:sp>
      <p:sp>
        <p:nvSpPr>
          <p:cNvPr id="10" name="Text 7"/>
          <p:cNvSpPr/>
          <p:nvPr/>
        </p:nvSpPr>
        <p:spPr>
          <a:xfrm>
            <a:off x="6215420" y="3622715"/>
            <a:ext cx="2278380" cy="284798"/>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Gelasio" pitchFamily="34" charset="0"/>
                <a:ea typeface="Gelasio" pitchFamily="34" charset="-122"/>
                <a:cs typeface="Gelasio" pitchFamily="34" charset="-120"/>
              </a:rPr>
              <a:t>Feature Processing</a:t>
            </a:r>
            <a:endParaRPr lang="en-US" sz="1750" dirty="0"/>
          </a:p>
        </p:txBody>
      </p:sp>
      <p:sp>
        <p:nvSpPr>
          <p:cNvPr id="11" name="Text 8"/>
          <p:cNvSpPr/>
          <p:nvPr/>
        </p:nvSpPr>
        <p:spPr>
          <a:xfrm>
            <a:off x="6215420" y="4016812"/>
            <a:ext cx="7685961" cy="29158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Data is cleaned, scaled, and transformed to match the model's requirements</a:t>
            </a:r>
            <a:endParaRPr lang="en-US" sz="1400" dirty="0"/>
          </a:p>
        </p:txBody>
      </p:sp>
      <p:sp>
        <p:nvSpPr>
          <p:cNvPr id="12" name="Text 9"/>
          <p:cNvSpPr/>
          <p:nvPr/>
        </p:nvSpPr>
        <p:spPr>
          <a:xfrm>
            <a:off x="6215420" y="4627245"/>
            <a:ext cx="182166" cy="227767"/>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Gelasio Light" pitchFamily="34" charset="0"/>
                <a:ea typeface="Gelasio Light" pitchFamily="34" charset="-122"/>
                <a:cs typeface="Gelasio Light" pitchFamily="34" charset="-120"/>
              </a:rPr>
              <a:t>03</a:t>
            </a:r>
            <a:endParaRPr lang="en-US" sz="1400" dirty="0"/>
          </a:p>
        </p:txBody>
      </p:sp>
      <p:sp>
        <p:nvSpPr>
          <p:cNvPr id="13" name="Shape 10"/>
          <p:cNvSpPr/>
          <p:nvPr/>
        </p:nvSpPr>
        <p:spPr>
          <a:xfrm>
            <a:off x="6215420" y="4914067"/>
            <a:ext cx="7685961" cy="22860"/>
          </a:xfrm>
          <a:prstGeom prst="rect">
            <a:avLst/>
          </a:prstGeom>
          <a:solidFill>
            <a:srgbClr val="E5E5E0"/>
          </a:solidFill>
          <a:ln/>
        </p:spPr>
      </p:sp>
      <p:sp>
        <p:nvSpPr>
          <p:cNvPr id="14" name="Text 11"/>
          <p:cNvSpPr/>
          <p:nvPr/>
        </p:nvSpPr>
        <p:spPr>
          <a:xfrm>
            <a:off x="6215420" y="5050869"/>
            <a:ext cx="2312551" cy="284798"/>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Gelasio" pitchFamily="34" charset="0"/>
                <a:ea typeface="Gelasio" pitchFamily="34" charset="-122"/>
                <a:cs typeface="Gelasio" pitchFamily="34" charset="-120"/>
              </a:rPr>
              <a:t>Probability Calculation</a:t>
            </a:r>
            <a:endParaRPr lang="en-US" sz="1750" dirty="0"/>
          </a:p>
        </p:txBody>
      </p:sp>
      <p:sp>
        <p:nvSpPr>
          <p:cNvPr id="15" name="Text 12"/>
          <p:cNvSpPr/>
          <p:nvPr/>
        </p:nvSpPr>
        <p:spPr>
          <a:xfrm>
            <a:off x="6215420" y="5444966"/>
            <a:ext cx="7685961" cy="29158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The model calculates the likelihood of heart disease based on learned patterns</a:t>
            </a:r>
            <a:endParaRPr lang="en-US" sz="1400" dirty="0"/>
          </a:p>
        </p:txBody>
      </p:sp>
      <p:sp>
        <p:nvSpPr>
          <p:cNvPr id="16" name="Text 13"/>
          <p:cNvSpPr/>
          <p:nvPr/>
        </p:nvSpPr>
        <p:spPr>
          <a:xfrm>
            <a:off x="6215420" y="6055400"/>
            <a:ext cx="182166" cy="227767"/>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Gelasio Light" pitchFamily="34" charset="0"/>
                <a:ea typeface="Gelasio Light" pitchFamily="34" charset="-122"/>
                <a:cs typeface="Gelasio Light" pitchFamily="34" charset="-120"/>
              </a:rPr>
              <a:t>04</a:t>
            </a:r>
            <a:endParaRPr lang="en-US" sz="1400" dirty="0"/>
          </a:p>
        </p:txBody>
      </p:sp>
      <p:sp>
        <p:nvSpPr>
          <p:cNvPr id="17" name="Shape 14"/>
          <p:cNvSpPr/>
          <p:nvPr/>
        </p:nvSpPr>
        <p:spPr>
          <a:xfrm>
            <a:off x="6215420" y="6342221"/>
            <a:ext cx="7685961" cy="22860"/>
          </a:xfrm>
          <a:prstGeom prst="rect">
            <a:avLst/>
          </a:prstGeom>
          <a:solidFill>
            <a:srgbClr val="E5E5E0"/>
          </a:solidFill>
          <a:ln/>
        </p:spPr>
      </p:sp>
      <p:sp>
        <p:nvSpPr>
          <p:cNvPr id="18" name="Text 15"/>
          <p:cNvSpPr/>
          <p:nvPr/>
        </p:nvSpPr>
        <p:spPr>
          <a:xfrm>
            <a:off x="6215420" y="6479024"/>
            <a:ext cx="2278380" cy="284798"/>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Gelasio" pitchFamily="34" charset="0"/>
                <a:ea typeface="Gelasio" pitchFamily="34" charset="-122"/>
                <a:cs typeface="Gelasio" pitchFamily="34" charset="-120"/>
              </a:rPr>
              <a:t>Risk Classification</a:t>
            </a:r>
            <a:endParaRPr lang="en-US" sz="1750" dirty="0"/>
          </a:p>
        </p:txBody>
      </p:sp>
      <p:sp>
        <p:nvSpPr>
          <p:cNvPr id="19" name="Text 16"/>
          <p:cNvSpPr/>
          <p:nvPr/>
        </p:nvSpPr>
        <p:spPr>
          <a:xfrm>
            <a:off x="6215420" y="6873121"/>
            <a:ext cx="7685961" cy="29158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If probability exceeds the threshold, the patient is classified as high-risk for heart disease</a:t>
            </a:r>
            <a:endParaRPr lang="en-US" sz="1400" dirty="0"/>
          </a:p>
        </p:txBody>
      </p:sp>
      <p:pic>
        <p:nvPicPr>
          <p:cNvPr id="20" name="Picture 19">
            <a:extLst>
              <a:ext uri="{FF2B5EF4-FFF2-40B4-BE49-F238E27FC236}">
                <a16:creationId xmlns:a16="http://schemas.microsoft.com/office/drawing/2014/main" id="{1D95DE3D-D627-2071-E028-B4106F45B69A}"/>
              </a:ext>
            </a:extLst>
          </p:cNvPr>
          <p:cNvPicPr>
            <a:picLocks noChangeAspect="1"/>
          </p:cNvPicPr>
          <p:nvPr/>
        </p:nvPicPr>
        <p:blipFill>
          <a:blip r:embed="rId4"/>
          <a:stretch>
            <a:fillRect/>
          </a:stretch>
        </p:blipFill>
        <p:spPr>
          <a:xfrm>
            <a:off x="12645817" y="7382107"/>
            <a:ext cx="1984583" cy="8474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14707" y="353854"/>
            <a:ext cx="5776198" cy="402074"/>
          </a:xfrm>
          <a:prstGeom prst="rect">
            <a:avLst/>
          </a:prstGeom>
          <a:noFill/>
          <a:ln/>
        </p:spPr>
        <p:txBody>
          <a:bodyPr wrap="none" lIns="0" tIns="0" rIns="0" bIns="0" rtlCol="0" anchor="t"/>
          <a:lstStyle/>
          <a:p>
            <a:pPr marL="0" indent="0" algn="l">
              <a:lnSpc>
                <a:spcPts val="3150"/>
              </a:lnSpc>
              <a:buNone/>
            </a:pPr>
            <a:r>
              <a:rPr lang="en-US" sz="4000" b="1" dirty="0">
                <a:solidFill>
                  <a:srgbClr val="312F2B"/>
                </a:solidFill>
                <a:latin typeface="Garamond" panose="02020404030301010803" pitchFamily="18" charset="0"/>
                <a:ea typeface="Gelasio" pitchFamily="34" charset="-122"/>
                <a:cs typeface="Gelasio" pitchFamily="34" charset="-120"/>
              </a:rPr>
              <a:t>Feature Influence &amp; Clinical Significance</a:t>
            </a:r>
            <a:endParaRPr lang="en-US" sz="4000" b="1" dirty="0">
              <a:latin typeface="Garamond" panose="02020404030301010803" pitchFamily="18" charset="0"/>
            </a:endParaRPr>
          </a:p>
        </p:txBody>
      </p:sp>
      <p:sp>
        <p:nvSpPr>
          <p:cNvPr id="3" name="Text 1"/>
          <p:cNvSpPr/>
          <p:nvPr/>
        </p:nvSpPr>
        <p:spPr>
          <a:xfrm>
            <a:off x="514707" y="1064657"/>
            <a:ext cx="7339251" cy="617577"/>
          </a:xfrm>
          <a:prstGeom prst="rect">
            <a:avLst/>
          </a:prstGeom>
          <a:noFill/>
          <a:ln/>
        </p:spPr>
        <p:txBody>
          <a:bodyPr wrap="square" lIns="0" tIns="0" rIns="0" bIns="0" rtlCol="0" anchor="t"/>
          <a:lstStyle/>
          <a:p>
            <a:pPr marL="0" indent="0" algn="l">
              <a:lnSpc>
                <a:spcPts val="1600"/>
              </a:lnSpc>
              <a:buNone/>
            </a:pPr>
            <a:r>
              <a:rPr lang="en-US" sz="1400" dirty="0">
                <a:solidFill>
                  <a:srgbClr val="272525"/>
                </a:solidFill>
                <a:latin typeface="Lato" pitchFamily="34" charset="0"/>
                <a:ea typeface="Lato" pitchFamily="34" charset="-122"/>
                <a:cs typeface="Lato" pitchFamily="34" charset="-120"/>
              </a:rPr>
              <a:t>The model identifies key predictive features through odds ratios, revealing which clinical parameters most strongly influence heart disease risk. Understanding these relationships enables clinicians to focus on the most relevant indicators during patient assessment.</a:t>
            </a:r>
            <a:endParaRPr lang="en-US" sz="1400" dirty="0"/>
          </a:p>
        </p:txBody>
      </p:sp>
      <p:sp>
        <p:nvSpPr>
          <p:cNvPr id="4" name="Text 2"/>
          <p:cNvSpPr/>
          <p:nvPr/>
        </p:nvSpPr>
        <p:spPr>
          <a:xfrm>
            <a:off x="514707" y="1810822"/>
            <a:ext cx="2086808" cy="200978"/>
          </a:xfrm>
          <a:prstGeom prst="rect">
            <a:avLst/>
          </a:prstGeom>
          <a:noFill/>
          <a:ln/>
        </p:spPr>
        <p:txBody>
          <a:bodyPr wrap="none" lIns="0" tIns="0" rIns="0" bIns="0" rtlCol="0" anchor="t"/>
          <a:lstStyle/>
          <a:p>
            <a:pPr marL="0" indent="0" algn="l">
              <a:lnSpc>
                <a:spcPts val="1550"/>
              </a:lnSpc>
              <a:buNone/>
            </a:pPr>
            <a:r>
              <a:rPr lang="en-US" sz="1400" dirty="0">
                <a:solidFill>
                  <a:srgbClr val="312F2B"/>
                </a:solidFill>
                <a:latin typeface="Gelasio" pitchFamily="34" charset="0"/>
                <a:ea typeface="Gelasio" pitchFamily="34" charset="-122"/>
                <a:cs typeface="Gelasio" pitchFamily="34" charset="-120"/>
              </a:rPr>
              <a:t>Strongest Predictive Features</a:t>
            </a:r>
            <a:endParaRPr lang="en-US" sz="14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2928" y="2160330"/>
            <a:ext cx="193000" cy="193000"/>
          </a:xfrm>
          <a:prstGeom prst="rect">
            <a:avLst/>
          </a:prstGeom>
        </p:spPr>
      </p:pic>
      <p:sp>
        <p:nvSpPr>
          <p:cNvPr id="6" name="Text 3"/>
          <p:cNvSpPr/>
          <p:nvPr/>
        </p:nvSpPr>
        <p:spPr>
          <a:xfrm>
            <a:off x="932736" y="2156460"/>
            <a:ext cx="1608534" cy="20097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Chest Pain Type (CP)</a:t>
            </a:r>
            <a:endParaRPr lang="en-US" sz="1400" dirty="0"/>
          </a:p>
        </p:txBody>
      </p:sp>
      <p:sp>
        <p:nvSpPr>
          <p:cNvPr id="7" name="Text 4"/>
          <p:cNvSpPr/>
          <p:nvPr/>
        </p:nvSpPr>
        <p:spPr>
          <a:xfrm>
            <a:off x="932736" y="2486025"/>
            <a:ext cx="6921222" cy="205859"/>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Specific angina patterns strongly indicate coronary issues</a:t>
            </a:r>
            <a:endParaRPr lang="en-US" sz="12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2928" y="2953048"/>
            <a:ext cx="193000" cy="193000"/>
          </a:xfrm>
          <a:prstGeom prst="rect">
            <a:avLst/>
          </a:prstGeom>
        </p:spPr>
      </p:pic>
      <p:sp>
        <p:nvSpPr>
          <p:cNvPr id="9" name="Text 5"/>
          <p:cNvSpPr/>
          <p:nvPr/>
        </p:nvSpPr>
        <p:spPr>
          <a:xfrm>
            <a:off x="932736" y="2949178"/>
            <a:ext cx="2278023" cy="20097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Maximum Heart Rate (Thalach)</a:t>
            </a:r>
            <a:endParaRPr lang="en-US" sz="1400" dirty="0"/>
          </a:p>
        </p:txBody>
      </p:sp>
      <p:sp>
        <p:nvSpPr>
          <p:cNvPr id="10" name="Text 6"/>
          <p:cNvSpPr/>
          <p:nvPr/>
        </p:nvSpPr>
        <p:spPr>
          <a:xfrm>
            <a:off x="932736" y="3278743"/>
            <a:ext cx="6921222" cy="205859"/>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Lower peak heart rates correlate with disease presence</a:t>
            </a:r>
            <a:endParaRPr lang="en-US" sz="12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2928" y="3745766"/>
            <a:ext cx="193000" cy="193000"/>
          </a:xfrm>
          <a:prstGeom prst="rect">
            <a:avLst/>
          </a:prstGeom>
        </p:spPr>
      </p:pic>
      <p:sp>
        <p:nvSpPr>
          <p:cNvPr id="12" name="Text 7"/>
          <p:cNvSpPr/>
          <p:nvPr/>
        </p:nvSpPr>
        <p:spPr>
          <a:xfrm>
            <a:off x="932736" y="3741896"/>
            <a:ext cx="1784628" cy="20097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ST Depression (Oldpeak)</a:t>
            </a:r>
            <a:endParaRPr lang="en-US" sz="1400" dirty="0"/>
          </a:p>
        </p:txBody>
      </p:sp>
      <p:sp>
        <p:nvSpPr>
          <p:cNvPr id="13" name="Text 8"/>
          <p:cNvSpPr/>
          <p:nvPr/>
        </p:nvSpPr>
        <p:spPr>
          <a:xfrm>
            <a:off x="932736" y="4071461"/>
            <a:ext cx="6921222" cy="205859"/>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ECG abnormalities signal myocardial ischaemia</a:t>
            </a:r>
            <a:endParaRPr lang="en-US" sz="1200" dirty="0"/>
          </a:p>
        </p:txBody>
      </p:sp>
      <p:pic>
        <p:nvPicPr>
          <p:cNvPr id="14"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2928" y="4538484"/>
            <a:ext cx="193000" cy="193000"/>
          </a:xfrm>
          <a:prstGeom prst="rect">
            <a:avLst/>
          </a:prstGeom>
        </p:spPr>
      </p:pic>
      <p:sp>
        <p:nvSpPr>
          <p:cNvPr id="15" name="Text 9"/>
          <p:cNvSpPr/>
          <p:nvPr/>
        </p:nvSpPr>
        <p:spPr>
          <a:xfrm>
            <a:off x="932736" y="4534614"/>
            <a:ext cx="1608534" cy="20097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Major Vessels (CA)</a:t>
            </a:r>
            <a:endParaRPr lang="en-US" sz="1400" dirty="0"/>
          </a:p>
        </p:txBody>
      </p:sp>
      <p:sp>
        <p:nvSpPr>
          <p:cNvPr id="16" name="Text 10"/>
          <p:cNvSpPr/>
          <p:nvPr/>
        </p:nvSpPr>
        <p:spPr>
          <a:xfrm>
            <a:off x="932736" y="4864179"/>
            <a:ext cx="6921222" cy="205859"/>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Number of blocked vessels directly predicts severity</a:t>
            </a:r>
            <a:endParaRPr lang="en-US" sz="1200" dirty="0"/>
          </a:p>
        </p:txBody>
      </p:sp>
      <p:sp>
        <p:nvSpPr>
          <p:cNvPr id="17" name="Shape 11"/>
          <p:cNvSpPr/>
          <p:nvPr/>
        </p:nvSpPr>
        <p:spPr>
          <a:xfrm>
            <a:off x="8175428" y="1093589"/>
            <a:ext cx="5239152" cy="1859459"/>
          </a:xfrm>
          <a:prstGeom prst="roundRect">
            <a:avLst>
              <a:gd name="adj" fmla="val 2988"/>
            </a:avLst>
          </a:prstGeom>
          <a:solidFill>
            <a:srgbClr val="DCDCD5"/>
          </a:solidFill>
          <a:ln/>
        </p:spPr>
      </p:sp>
      <p:pic>
        <p:nvPicPr>
          <p:cNvPr id="18" name="Image 4" descr="preencoded.png"/>
          <p:cNvPicPr>
            <a:picLocks noChangeAspect="1"/>
          </p:cNvPicPr>
          <p:nvPr/>
        </p:nvPicPr>
        <p:blipFill>
          <a:blip r:embed="rId5"/>
          <a:stretch>
            <a:fillRect/>
          </a:stretch>
        </p:blipFill>
        <p:spPr>
          <a:xfrm>
            <a:off x="8304014" y="1258253"/>
            <a:ext cx="200978" cy="160853"/>
          </a:xfrm>
          <a:prstGeom prst="rect">
            <a:avLst/>
          </a:prstGeom>
        </p:spPr>
      </p:pic>
      <p:sp>
        <p:nvSpPr>
          <p:cNvPr id="19" name="Text 12"/>
          <p:cNvSpPr/>
          <p:nvPr/>
        </p:nvSpPr>
        <p:spPr>
          <a:xfrm>
            <a:off x="8633579" y="1254323"/>
            <a:ext cx="1608534" cy="200978"/>
          </a:xfrm>
          <a:prstGeom prst="rect">
            <a:avLst/>
          </a:prstGeom>
          <a:noFill/>
          <a:ln/>
        </p:spPr>
        <p:txBody>
          <a:bodyPr wrap="none" lIns="0" tIns="0" rIns="0" bIns="0" rtlCol="0" anchor="t"/>
          <a:lstStyle/>
          <a:p>
            <a:pPr marL="0" indent="0" algn="l">
              <a:lnSpc>
                <a:spcPts val="1550"/>
              </a:lnSpc>
              <a:buNone/>
            </a:pPr>
            <a:r>
              <a:rPr lang="en-US" sz="1250" dirty="0">
                <a:solidFill>
                  <a:srgbClr val="000000"/>
                </a:solidFill>
                <a:latin typeface="Gelasio" pitchFamily="34" charset="0"/>
                <a:ea typeface="Gelasio" pitchFamily="34" charset="-122"/>
                <a:cs typeface="Gelasio" pitchFamily="34" charset="-120"/>
              </a:rPr>
              <a:t>Clinical Applications</a:t>
            </a:r>
            <a:endParaRPr lang="en-US" sz="1250" dirty="0"/>
          </a:p>
        </p:txBody>
      </p:sp>
      <p:sp>
        <p:nvSpPr>
          <p:cNvPr id="20" name="Text 13"/>
          <p:cNvSpPr/>
          <p:nvPr/>
        </p:nvSpPr>
        <p:spPr>
          <a:xfrm>
            <a:off x="8633579" y="1583888"/>
            <a:ext cx="536102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Lato" pitchFamily="34" charset="0"/>
                <a:ea typeface="Lato" pitchFamily="34" charset="-122"/>
                <a:cs typeface="Lato" pitchFamily="34" charset="-120"/>
              </a:rPr>
              <a:t>Identify high-risk patients requiring immediate intervention</a:t>
            </a:r>
            <a:endParaRPr lang="en-US" sz="1000" dirty="0"/>
          </a:p>
        </p:txBody>
      </p:sp>
      <p:sp>
        <p:nvSpPr>
          <p:cNvPr id="21" name="Text 14"/>
          <p:cNvSpPr/>
          <p:nvPr/>
        </p:nvSpPr>
        <p:spPr>
          <a:xfrm>
            <a:off x="8633579" y="1834753"/>
            <a:ext cx="536102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Lato" pitchFamily="34" charset="0"/>
                <a:ea typeface="Lato" pitchFamily="34" charset="-122"/>
                <a:cs typeface="Lato" pitchFamily="34" charset="-120"/>
              </a:rPr>
              <a:t>Support evidence-based clinical decision-making</a:t>
            </a:r>
            <a:endParaRPr lang="en-US" sz="1000" dirty="0"/>
          </a:p>
        </p:txBody>
      </p:sp>
      <p:sp>
        <p:nvSpPr>
          <p:cNvPr id="22" name="Text 15"/>
          <p:cNvSpPr/>
          <p:nvPr/>
        </p:nvSpPr>
        <p:spPr>
          <a:xfrm>
            <a:off x="8633579" y="2085618"/>
            <a:ext cx="536102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Lato" pitchFamily="34" charset="0"/>
                <a:ea typeface="Lato" pitchFamily="34" charset="-122"/>
                <a:cs typeface="Lato" pitchFamily="34" charset="-120"/>
              </a:rPr>
              <a:t>Prioritise diagnostic testing for at-risk individuals</a:t>
            </a:r>
            <a:endParaRPr lang="en-US" sz="1000" dirty="0"/>
          </a:p>
        </p:txBody>
      </p:sp>
      <p:sp>
        <p:nvSpPr>
          <p:cNvPr id="23" name="Text 16"/>
          <p:cNvSpPr/>
          <p:nvPr/>
        </p:nvSpPr>
        <p:spPr>
          <a:xfrm>
            <a:off x="8633579" y="2336483"/>
            <a:ext cx="536102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Lato" pitchFamily="34" charset="0"/>
                <a:ea typeface="Lato" pitchFamily="34" charset="-122"/>
                <a:cs typeface="Lato" pitchFamily="34" charset="-120"/>
              </a:rPr>
              <a:t>Reduce unnecessary procedures for low-risk patients</a:t>
            </a:r>
            <a:endParaRPr lang="en-US" sz="1000" dirty="0"/>
          </a:p>
        </p:txBody>
      </p:sp>
      <p:sp>
        <p:nvSpPr>
          <p:cNvPr id="24" name="Text 17"/>
          <p:cNvSpPr/>
          <p:nvPr/>
        </p:nvSpPr>
        <p:spPr>
          <a:xfrm>
            <a:off x="8633579" y="2587347"/>
            <a:ext cx="536102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Lato" pitchFamily="34" charset="0"/>
                <a:ea typeface="Lato" pitchFamily="34" charset="-122"/>
                <a:cs typeface="Lato" pitchFamily="34" charset="-120"/>
              </a:rPr>
              <a:t>Enable personalised treatment planning</a:t>
            </a:r>
            <a:endParaRPr lang="en-US" sz="1000" dirty="0"/>
          </a:p>
        </p:txBody>
      </p:sp>
      <p:pic>
        <p:nvPicPr>
          <p:cNvPr id="25" name="Image 5" descr="preencoded.png"/>
          <p:cNvPicPr>
            <a:picLocks noChangeAspect="1"/>
          </p:cNvPicPr>
          <p:nvPr/>
        </p:nvPicPr>
        <p:blipFill>
          <a:blip r:embed="rId6"/>
          <a:stretch>
            <a:fillRect/>
          </a:stretch>
        </p:blipFill>
        <p:spPr>
          <a:xfrm>
            <a:off x="8237006" y="3146048"/>
            <a:ext cx="5239152" cy="4206300"/>
          </a:xfrm>
          <a:prstGeom prst="rect">
            <a:avLst/>
          </a:prstGeom>
        </p:spPr>
      </p:pic>
      <p:pic>
        <p:nvPicPr>
          <p:cNvPr id="26" name="Picture 25">
            <a:extLst>
              <a:ext uri="{FF2B5EF4-FFF2-40B4-BE49-F238E27FC236}">
                <a16:creationId xmlns:a16="http://schemas.microsoft.com/office/drawing/2014/main" id="{42F79CBB-70A9-5E09-65B1-19901189B68C}"/>
              </a:ext>
            </a:extLst>
          </p:cNvPr>
          <p:cNvPicPr>
            <a:picLocks noChangeAspect="1"/>
          </p:cNvPicPr>
          <p:nvPr/>
        </p:nvPicPr>
        <p:blipFill>
          <a:blip r:embed="rId7"/>
          <a:stretch>
            <a:fillRect/>
          </a:stretch>
        </p:blipFill>
        <p:spPr>
          <a:xfrm>
            <a:off x="12645817" y="7382107"/>
            <a:ext cx="1984583" cy="8474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163842"/>
            <a:ext cx="8382953" cy="620078"/>
          </a:xfrm>
          <a:prstGeom prst="rect">
            <a:avLst/>
          </a:prstGeom>
          <a:noFill/>
          <a:ln/>
        </p:spPr>
        <p:txBody>
          <a:bodyPr wrap="none" lIns="0" tIns="0" rIns="0" bIns="0" rtlCol="0" anchor="t"/>
          <a:lstStyle/>
          <a:p>
            <a:pPr marL="0" indent="0" algn="l">
              <a:lnSpc>
                <a:spcPts val="4850"/>
              </a:lnSpc>
              <a:buNone/>
            </a:pPr>
            <a:r>
              <a:rPr lang="en-US" sz="3900" b="1" dirty="0">
                <a:solidFill>
                  <a:srgbClr val="312F2B"/>
                </a:solidFill>
                <a:latin typeface="Garamond" panose="02020404030301010803" pitchFamily="18" charset="0"/>
                <a:ea typeface="Gelasio" pitchFamily="34" charset="-122"/>
                <a:cs typeface="Gelasio" pitchFamily="34" charset="-120"/>
              </a:rPr>
              <a:t>Real-World Impact &amp; Implementation</a:t>
            </a:r>
            <a:endParaRPr lang="en-US" sz="3900" b="1" dirty="0">
              <a:latin typeface="Garamond" panose="02020404030301010803" pitchFamily="18" charset="0"/>
            </a:endParaRPr>
          </a:p>
        </p:txBody>
      </p:sp>
      <p:sp>
        <p:nvSpPr>
          <p:cNvPr id="3" name="Text 1"/>
          <p:cNvSpPr/>
          <p:nvPr/>
        </p:nvSpPr>
        <p:spPr>
          <a:xfrm>
            <a:off x="793790" y="337911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Emergency Triage</a:t>
            </a:r>
            <a:endParaRPr lang="en-US" sz="1950" dirty="0"/>
          </a:p>
        </p:txBody>
      </p:sp>
      <p:sp>
        <p:nvSpPr>
          <p:cNvPr id="4" name="Text 2"/>
          <p:cNvSpPr/>
          <p:nvPr/>
        </p:nvSpPr>
        <p:spPr>
          <a:xfrm>
            <a:off x="793790" y="3808333"/>
            <a:ext cx="418218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Rapidly assess incoming patients to prioritise those at highest cardiovascular risk for immediate attention</a:t>
            </a:r>
            <a:endParaRPr lang="en-US" sz="1550" dirty="0"/>
          </a:p>
        </p:txBody>
      </p:sp>
      <p:sp>
        <p:nvSpPr>
          <p:cNvPr id="5" name="Text 3"/>
          <p:cNvSpPr/>
          <p:nvPr/>
        </p:nvSpPr>
        <p:spPr>
          <a:xfrm>
            <a:off x="5223986" y="3379113"/>
            <a:ext cx="2603183"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Primary Care Screening</a:t>
            </a:r>
            <a:endParaRPr lang="en-US" sz="1950" dirty="0"/>
          </a:p>
        </p:txBody>
      </p:sp>
      <p:sp>
        <p:nvSpPr>
          <p:cNvPr id="6" name="Text 4"/>
          <p:cNvSpPr/>
          <p:nvPr/>
        </p:nvSpPr>
        <p:spPr>
          <a:xfrm>
            <a:off x="5223986" y="3808333"/>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Enable general practitioners to identify at-risk patients during routine check-ups for specialist referral</a:t>
            </a:r>
            <a:endParaRPr lang="en-US" sz="1550" dirty="0"/>
          </a:p>
        </p:txBody>
      </p:sp>
      <p:sp>
        <p:nvSpPr>
          <p:cNvPr id="7" name="Text 5"/>
          <p:cNvSpPr/>
          <p:nvPr/>
        </p:nvSpPr>
        <p:spPr>
          <a:xfrm>
            <a:off x="9654302" y="337911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Preventive Medicine</a:t>
            </a:r>
            <a:endParaRPr lang="en-US" sz="1950" dirty="0"/>
          </a:p>
        </p:txBody>
      </p:sp>
      <p:sp>
        <p:nvSpPr>
          <p:cNvPr id="8" name="Text 6"/>
          <p:cNvSpPr/>
          <p:nvPr/>
        </p:nvSpPr>
        <p:spPr>
          <a:xfrm>
            <a:off x="9654302" y="3808333"/>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Support population health initiatives by identifying individuals who would benefit from lifestyle interventions</a:t>
            </a:r>
            <a:endParaRPr lang="en-US" sz="1550" dirty="0"/>
          </a:p>
        </p:txBody>
      </p:sp>
      <p:sp>
        <p:nvSpPr>
          <p:cNvPr id="9" name="Text 7"/>
          <p:cNvSpPr/>
          <p:nvPr/>
        </p:nvSpPr>
        <p:spPr>
          <a:xfrm>
            <a:off x="1091446" y="5207437"/>
            <a:ext cx="12745164"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"Machine learning models like this don't replace clinical judgement—they augment it, providing data-driven insights that help healthcare professionals make more informed decisions and ultimately save lives."</a:t>
            </a:r>
            <a:endParaRPr lang="en-US" sz="1550" dirty="0"/>
          </a:p>
        </p:txBody>
      </p:sp>
      <p:sp>
        <p:nvSpPr>
          <p:cNvPr id="10" name="Shape 8"/>
          <p:cNvSpPr/>
          <p:nvPr/>
        </p:nvSpPr>
        <p:spPr>
          <a:xfrm>
            <a:off x="793790" y="4984194"/>
            <a:ext cx="22860" cy="1081564"/>
          </a:xfrm>
          <a:prstGeom prst="rect">
            <a:avLst/>
          </a:prstGeom>
          <a:solidFill>
            <a:srgbClr val="E5E5E0"/>
          </a:solidFill>
          <a:ln/>
        </p:spPr>
      </p:sp>
      <p:pic>
        <p:nvPicPr>
          <p:cNvPr id="11" name="Picture 10">
            <a:extLst>
              <a:ext uri="{FF2B5EF4-FFF2-40B4-BE49-F238E27FC236}">
                <a16:creationId xmlns:a16="http://schemas.microsoft.com/office/drawing/2014/main" id="{FECA7B0E-38FA-303F-D6B0-4AD644EABACA}"/>
              </a:ext>
            </a:extLst>
          </p:cNvPr>
          <p:cNvPicPr>
            <a:picLocks noChangeAspect="1"/>
          </p:cNvPicPr>
          <p:nvPr/>
        </p:nvPicPr>
        <p:blipFill>
          <a:blip r:embed="rId3"/>
          <a:stretch>
            <a:fillRect/>
          </a:stretch>
        </p:blipFill>
        <p:spPr>
          <a:xfrm>
            <a:off x="12645817" y="7382107"/>
            <a:ext cx="1984583" cy="8474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17684" y="355878"/>
            <a:ext cx="5161359" cy="404455"/>
          </a:xfrm>
          <a:prstGeom prst="rect">
            <a:avLst/>
          </a:prstGeom>
          <a:noFill/>
          <a:ln/>
        </p:spPr>
        <p:txBody>
          <a:bodyPr wrap="none" lIns="0" tIns="0" rIns="0" bIns="0" rtlCol="0" anchor="t"/>
          <a:lstStyle/>
          <a:p>
            <a:pPr marL="0" indent="0" algn="l">
              <a:lnSpc>
                <a:spcPts val="3150"/>
              </a:lnSpc>
              <a:buNone/>
            </a:pPr>
            <a:r>
              <a:rPr lang="en-US" sz="3600" b="1" dirty="0">
                <a:solidFill>
                  <a:srgbClr val="312F2B"/>
                </a:solidFill>
                <a:latin typeface="Garamond" panose="02020404030301010803" pitchFamily="18" charset="0"/>
                <a:ea typeface="Gelasio" pitchFamily="34" charset="-122"/>
                <a:cs typeface="Gelasio" pitchFamily="34" charset="-120"/>
              </a:rPr>
              <a:t>Conclusion &amp; Future Enhancements</a:t>
            </a:r>
            <a:endParaRPr lang="en-US" sz="3600" b="1" dirty="0">
              <a:latin typeface="Garamond" panose="02020404030301010803" pitchFamily="18" charset="0"/>
            </a:endParaRPr>
          </a:p>
        </p:txBody>
      </p:sp>
      <p:sp>
        <p:nvSpPr>
          <p:cNvPr id="3" name="Text 1"/>
          <p:cNvSpPr/>
          <p:nvPr/>
        </p:nvSpPr>
        <p:spPr>
          <a:xfrm>
            <a:off x="517684" y="1083826"/>
            <a:ext cx="1618059" cy="202168"/>
          </a:xfrm>
          <a:prstGeom prst="rect">
            <a:avLst/>
          </a:prstGeom>
          <a:noFill/>
          <a:ln/>
        </p:spPr>
        <p:txBody>
          <a:bodyPr wrap="none" lIns="0" tIns="0" rIns="0" bIns="0" rtlCol="0" anchor="t"/>
          <a:lstStyle/>
          <a:p>
            <a:pPr marL="0" indent="0" algn="l">
              <a:lnSpc>
                <a:spcPts val="1550"/>
              </a:lnSpc>
              <a:buNone/>
            </a:pPr>
            <a:endParaRPr lang="en-US" sz="1600" dirty="0"/>
          </a:p>
        </p:txBody>
      </p:sp>
      <p:sp>
        <p:nvSpPr>
          <p:cNvPr id="4" name="Text 2"/>
          <p:cNvSpPr/>
          <p:nvPr/>
        </p:nvSpPr>
        <p:spPr>
          <a:xfrm>
            <a:off x="517685" y="1159895"/>
            <a:ext cx="6639639" cy="828199"/>
          </a:xfrm>
          <a:prstGeom prst="rect">
            <a:avLst/>
          </a:prstGeom>
          <a:noFill/>
          <a:ln/>
        </p:spPr>
        <p:txBody>
          <a:bodyPr wrap="square" lIns="0" tIns="0" rIns="0" bIns="0" rtlCol="0" anchor="t"/>
          <a:lstStyle/>
          <a:p>
            <a:pPr marL="0" indent="0" algn="l">
              <a:lnSpc>
                <a:spcPts val="1600"/>
              </a:lnSpc>
              <a:buNone/>
            </a:pPr>
            <a:r>
              <a:rPr lang="en-US" sz="1400" dirty="0">
                <a:solidFill>
                  <a:srgbClr val="272525"/>
                </a:solidFill>
                <a:latin typeface="Lato" pitchFamily="34" charset="0"/>
                <a:ea typeface="Lato" pitchFamily="34" charset="-122"/>
                <a:cs typeface="Lato" pitchFamily="34" charset="-120"/>
              </a:rPr>
              <a:t>This logistic regression model demonstrates that interpretable machine learning can provide clinically valuable predictions for heart disease risk assessment. The model successfully identifies patterns in routinely collected clinical data, offering a practical tool for early diagnosis and preventive care without requiring expensive or invasive procedures.</a:t>
            </a:r>
          </a:p>
          <a:p>
            <a:pPr marL="0" indent="0" algn="l">
              <a:lnSpc>
                <a:spcPts val="1600"/>
              </a:lnSpc>
              <a:buNone/>
            </a:pPr>
            <a:endParaRPr lang="en-US" sz="1400" dirty="0">
              <a:solidFill>
                <a:srgbClr val="272525"/>
              </a:solidFill>
              <a:latin typeface="Lato" pitchFamily="34" charset="0"/>
              <a:ea typeface="Lato" pitchFamily="34" charset="-122"/>
              <a:cs typeface="Lato" pitchFamily="34" charset="-120"/>
            </a:endParaRPr>
          </a:p>
          <a:p>
            <a:pPr marL="0" indent="0" algn="l">
              <a:lnSpc>
                <a:spcPts val="1600"/>
              </a:lnSpc>
              <a:buNone/>
            </a:pPr>
            <a:endParaRPr lang="en-US" sz="1400" dirty="0">
              <a:solidFill>
                <a:srgbClr val="272525"/>
              </a:solidFill>
              <a:latin typeface="Lato" pitchFamily="34" charset="0"/>
              <a:ea typeface="Lato" pitchFamily="34" charset="-122"/>
              <a:cs typeface="Lato" pitchFamily="34" charset="-120"/>
            </a:endParaRPr>
          </a:p>
          <a:p>
            <a:pPr marL="0" indent="0" algn="l">
              <a:lnSpc>
                <a:spcPts val="1600"/>
              </a:lnSpc>
              <a:buNone/>
            </a:pPr>
            <a:endParaRPr lang="en-US" sz="1400" dirty="0"/>
          </a:p>
        </p:txBody>
      </p:sp>
      <p:sp>
        <p:nvSpPr>
          <p:cNvPr id="5" name="Text 3"/>
          <p:cNvSpPr/>
          <p:nvPr/>
        </p:nvSpPr>
        <p:spPr>
          <a:xfrm>
            <a:off x="517684" y="2563119"/>
            <a:ext cx="2207776" cy="202168"/>
          </a:xfrm>
          <a:prstGeom prst="rect">
            <a:avLst/>
          </a:prstGeom>
          <a:noFill/>
          <a:ln/>
        </p:spPr>
        <p:txBody>
          <a:bodyPr wrap="none" lIns="0" tIns="0" rIns="0" bIns="0" rtlCol="0" anchor="t"/>
          <a:lstStyle/>
          <a:p>
            <a:pPr marL="0" indent="0" algn="l">
              <a:lnSpc>
                <a:spcPts val="1550"/>
              </a:lnSpc>
              <a:buNone/>
            </a:pPr>
            <a:r>
              <a:rPr lang="en-US" sz="1400" dirty="0">
                <a:solidFill>
                  <a:srgbClr val="312F2B"/>
                </a:solidFill>
                <a:latin typeface="Gelasio" pitchFamily="34" charset="0"/>
                <a:ea typeface="Gelasio" pitchFamily="34" charset="-122"/>
                <a:cs typeface="Gelasio" pitchFamily="34" charset="-120"/>
              </a:rPr>
              <a:t>Future Development Roadmap</a:t>
            </a:r>
            <a:endParaRPr lang="en-US" sz="1400" dirty="0"/>
          </a:p>
        </p:txBody>
      </p:sp>
      <p:sp>
        <p:nvSpPr>
          <p:cNvPr id="6" name="Shape 4"/>
          <p:cNvSpPr/>
          <p:nvPr/>
        </p:nvSpPr>
        <p:spPr>
          <a:xfrm>
            <a:off x="647105" y="2914888"/>
            <a:ext cx="129421" cy="603290"/>
          </a:xfrm>
          <a:prstGeom prst="roundRect">
            <a:avLst>
              <a:gd name="adj" fmla="val 42008"/>
            </a:avLst>
          </a:prstGeom>
          <a:solidFill>
            <a:srgbClr val="E8E8E3"/>
          </a:solidFill>
          <a:ln w="7620">
            <a:solidFill>
              <a:srgbClr val="CECEC9"/>
            </a:solidFill>
            <a:prstDash val="solid"/>
          </a:ln>
        </p:spPr>
      </p:sp>
      <p:sp>
        <p:nvSpPr>
          <p:cNvPr id="7" name="Shape 5"/>
          <p:cNvSpPr/>
          <p:nvPr/>
        </p:nvSpPr>
        <p:spPr>
          <a:xfrm>
            <a:off x="517684" y="2829997"/>
            <a:ext cx="388263" cy="388263"/>
          </a:xfrm>
          <a:prstGeom prst="roundRect">
            <a:avLst>
              <a:gd name="adj" fmla="val 117755"/>
            </a:avLst>
          </a:prstGeom>
          <a:solidFill>
            <a:srgbClr val="E8E8E3"/>
          </a:solidFill>
          <a:ln w="7620">
            <a:solidFill>
              <a:srgbClr val="CECEC9"/>
            </a:solidFill>
            <a:prstDash val="solid"/>
          </a:ln>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720" y="2927152"/>
            <a:ext cx="194072" cy="194072"/>
          </a:xfrm>
          <a:prstGeom prst="rect">
            <a:avLst/>
          </a:prstGeom>
        </p:spPr>
      </p:pic>
      <p:sp>
        <p:nvSpPr>
          <p:cNvPr id="9" name="Text 6"/>
          <p:cNvSpPr/>
          <p:nvPr/>
        </p:nvSpPr>
        <p:spPr>
          <a:xfrm>
            <a:off x="1035368" y="2850237"/>
            <a:ext cx="1618059" cy="20216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Advanced Algorithms</a:t>
            </a:r>
            <a:endParaRPr lang="en-US" sz="1400" dirty="0"/>
          </a:p>
        </p:txBody>
      </p:sp>
      <p:sp>
        <p:nvSpPr>
          <p:cNvPr id="10" name="Text 7"/>
          <p:cNvSpPr/>
          <p:nvPr/>
        </p:nvSpPr>
        <p:spPr>
          <a:xfrm>
            <a:off x="1035368" y="3181826"/>
            <a:ext cx="6121956" cy="207050"/>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Implement ensemble methods like Random Forest and XGBoost for improved accuracy</a:t>
            </a:r>
            <a:endParaRPr lang="en-US" sz="1200" dirty="0"/>
          </a:p>
        </p:txBody>
      </p:sp>
      <p:sp>
        <p:nvSpPr>
          <p:cNvPr id="11" name="Shape 8"/>
          <p:cNvSpPr/>
          <p:nvPr/>
        </p:nvSpPr>
        <p:spPr>
          <a:xfrm>
            <a:off x="841177" y="3841790"/>
            <a:ext cx="129421" cy="603290"/>
          </a:xfrm>
          <a:prstGeom prst="roundRect">
            <a:avLst>
              <a:gd name="adj" fmla="val 42008"/>
            </a:avLst>
          </a:prstGeom>
          <a:solidFill>
            <a:srgbClr val="E8E8E3"/>
          </a:solidFill>
          <a:ln w="7620">
            <a:solidFill>
              <a:srgbClr val="CECEC9"/>
            </a:solidFill>
            <a:prstDash val="solid"/>
          </a:ln>
        </p:spPr>
      </p:sp>
      <p:sp>
        <p:nvSpPr>
          <p:cNvPr id="12" name="Shape 9"/>
          <p:cNvSpPr/>
          <p:nvPr/>
        </p:nvSpPr>
        <p:spPr>
          <a:xfrm>
            <a:off x="711756" y="3756898"/>
            <a:ext cx="388263" cy="388263"/>
          </a:xfrm>
          <a:prstGeom prst="roundRect">
            <a:avLst>
              <a:gd name="adj" fmla="val 117755"/>
            </a:avLst>
          </a:prstGeom>
          <a:solidFill>
            <a:srgbClr val="E8E8E3"/>
          </a:solidFill>
          <a:ln w="7620">
            <a:solidFill>
              <a:srgbClr val="CECEC9"/>
            </a:solidFill>
            <a:prstDash val="solid"/>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8792" y="3854053"/>
            <a:ext cx="194072" cy="194072"/>
          </a:xfrm>
          <a:prstGeom prst="rect">
            <a:avLst/>
          </a:prstGeom>
        </p:spPr>
      </p:pic>
      <p:sp>
        <p:nvSpPr>
          <p:cNvPr id="14" name="Text 10"/>
          <p:cNvSpPr/>
          <p:nvPr/>
        </p:nvSpPr>
        <p:spPr>
          <a:xfrm>
            <a:off x="1229439" y="3777139"/>
            <a:ext cx="1618059" cy="20216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Clinical Dashboard</a:t>
            </a:r>
            <a:endParaRPr lang="en-US" sz="1400" dirty="0"/>
          </a:p>
        </p:txBody>
      </p:sp>
      <p:sp>
        <p:nvSpPr>
          <p:cNvPr id="15" name="Text 11"/>
          <p:cNvSpPr/>
          <p:nvPr/>
        </p:nvSpPr>
        <p:spPr>
          <a:xfrm>
            <a:off x="1229439" y="4108728"/>
            <a:ext cx="5927884" cy="207050"/>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Develop real-time hospital integration system for seamless workflow</a:t>
            </a:r>
            <a:endParaRPr lang="en-US" sz="1200" dirty="0"/>
          </a:p>
        </p:txBody>
      </p:sp>
      <p:sp>
        <p:nvSpPr>
          <p:cNvPr id="16" name="Shape 12"/>
          <p:cNvSpPr/>
          <p:nvPr/>
        </p:nvSpPr>
        <p:spPr>
          <a:xfrm>
            <a:off x="1035368" y="4768691"/>
            <a:ext cx="129421" cy="603290"/>
          </a:xfrm>
          <a:prstGeom prst="roundRect">
            <a:avLst>
              <a:gd name="adj" fmla="val 42008"/>
            </a:avLst>
          </a:prstGeom>
          <a:solidFill>
            <a:srgbClr val="E8E8E3"/>
          </a:solidFill>
          <a:ln w="7620">
            <a:solidFill>
              <a:srgbClr val="CECEC9"/>
            </a:solidFill>
            <a:prstDash val="solid"/>
          </a:ln>
        </p:spPr>
      </p:sp>
      <p:sp>
        <p:nvSpPr>
          <p:cNvPr id="17" name="Shape 13"/>
          <p:cNvSpPr/>
          <p:nvPr/>
        </p:nvSpPr>
        <p:spPr>
          <a:xfrm>
            <a:off x="905947" y="4683800"/>
            <a:ext cx="388263" cy="388263"/>
          </a:xfrm>
          <a:prstGeom prst="roundRect">
            <a:avLst>
              <a:gd name="adj" fmla="val 117755"/>
            </a:avLst>
          </a:prstGeom>
          <a:solidFill>
            <a:srgbClr val="E8E8E3"/>
          </a:solidFill>
          <a:ln w="7620">
            <a:solidFill>
              <a:srgbClr val="CECEC9"/>
            </a:solidFill>
            <a:prstDash val="solid"/>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2983" y="4780955"/>
            <a:ext cx="194072" cy="194072"/>
          </a:xfrm>
          <a:prstGeom prst="rect">
            <a:avLst/>
          </a:prstGeom>
        </p:spPr>
      </p:pic>
      <p:sp>
        <p:nvSpPr>
          <p:cNvPr id="19" name="Text 14"/>
          <p:cNvSpPr/>
          <p:nvPr/>
        </p:nvSpPr>
        <p:spPr>
          <a:xfrm>
            <a:off x="1423630" y="4704040"/>
            <a:ext cx="1618059" cy="20216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Wearable Integration</a:t>
            </a:r>
            <a:endParaRPr lang="en-US" sz="1400" dirty="0"/>
          </a:p>
        </p:txBody>
      </p:sp>
      <p:sp>
        <p:nvSpPr>
          <p:cNvPr id="20" name="Text 15"/>
          <p:cNvSpPr/>
          <p:nvPr/>
        </p:nvSpPr>
        <p:spPr>
          <a:xfrm>
            <a:off x="1423630" y="5035629"/>
            <a:ext cx="5733693" cy="207050"/>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Incorporate continuous monitoring data from wearable devices</a:t>
            </a:r>
            <a:endParaRPr lang="en-US" sz="1200" dirty="0"/>
          </a:p>
        </p:txBody>
      </p:sp>
      <p:sp>
        <p:nvSpPr>
          <p:cNvPr id="21" name="Shape 16"/>
          <p:cNvSpPr/>
          <p:nvPr/>
        </p:nvSpPr>
        <p:spPr>
          <a:xfrm>
            <a:off x="1229558" y="5695593"/>
            <a:ext cx="129421" cy="603290"/>
          </a:xfrm>
          <a:prstGeom prst="roundRect">
            <a:avLst>
              <a:gd name="adj" fmla="val 42008"/>
            </a:avLst>
          </a:prstGeom>
          <a:solidFill>
            <a:srgbClr val="E8E8E3"/>
          </a:solidFill>
          <a:ln w="7620">
            <a:solidFill>
              <a:srgbClr val="CECEC9"/>
            </a:solidFill>
            <a:prstDash val="solid"/>
          </a:ln>
        </p:spPr>
      </p:sp>
      <p:sp>
        <p:nvSpPr>
          <p:cNvPr id="22" name="Shape 17"/>
          <p:cNvSpPr/>
          <p:nvPr/>
        </p:nvSpPr>
        <p:spPr>
          <a:xfrm>
            <a:off x="1100138" y="5610701"/>
            <a:ext cx="388263" cy="388263"/>
          </a:xfrm>
          <a:prstGeom prst="roundRect">
            <a:avLst>
              <a:gd name="adj" fmla="val 117755"/>
            </a:avLst>
          </a:prstGeom>
          <a:solidFill>
            <a:srgbClr val="E8E8E3"/>
          </a:solidFill>
          <a:ln w="7620">
            <a:solidFill>
              <a:srgbClr val="CECEC9"/>
            </a:solidFill>
            <a:prstDash val="solid"/>
          </a:ln>
        </p:spPr>
      </p:sp>
      <p:pic>
        <p:nvPicPr>
          <p:cNvPr id="2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7173" y="5707856"/>
            <a:ext cx="194072" cy="194072"/>
          </a:xfrm>
          <a:prstGeom prst="rect">
            <a:avLst/>
          </a:prstGeom>
        </p:spPr>
      </p:pic>
      <p:sp>
        <p:nvSpPr>
          <p:cNvPr id="24" name="Text 18"/>
          <p:cNvSpPr/>
          <p:nvPr/>
        </p:nvSpPr>
        <p:spPr>
          <a:xfrm>
            <a:off x="1617821" y="5630942"/>
            <a:ext cx="1618059" cy="202168"/>
          </a:xfrm>
          <a:prstGeom prst="rect">
            <a:avLst/>
          </a:prstGeom>
          <a:noFill/>
          <a:ln/>
        </p:spPr>
        <p:txBody>
          <a:bodyPr wrap="none" lIns="0" tIns="0" rIns="0" bIns="0" rtlCol="0" anchor="t"/>
          <a:lstStyle/>
          <a:p>
            <a:pPr marL="0" indent="0" algn="l">
              <a:lnSpc>
                <a:spcPts val="1550"/>
              </a:lnSpc>
              <a:buNone/>
            </a:pPr>
            <a:r>
              <a:rPr lang="en-US" sz="1400" dirty="0">
                <a:solidFill>
                  <a:srgbClr val="272525"/>
                </a:solidFill>
                <a:latin typeface="Gelasio" pitchFamily="34" charset="0"/>
                <a:ea typeface="Gelasio" pitchFamily="34" charset="-122"/>
                <a:cs typeface="Gelasio" pitchFamily="34" charset="-120"/>
              </a:rPr>
              <a:t>Digital Deployment</a:t>
            </a:r>
            <a:endParaRPr lang="en-US" sz="1400" dirty="0"/>
          </a:p>
        </p:txBody>
      </p:sp>
      <p:sp>
        <p:nvSpPr>
          <p:cNvPr id="25" name="Text 19"/>
          <p:cNvSpPr/>
          <p:nvPr/>
        </p:nvSpPr>
        <p:spPr>
          <a:xfrm>
            <a:off x="1617821" y="5962531"/>
            <a:ext cx="5539502" cy="207050"/>
          </a:xfrm>
          <a:prstGeom prst="rect">
            <a:avLst/>
          </a:prstGeom>
          <a:noFill/>
          <a:ln/>
        </p:spPr>
        <p:txBody>
          <a:bodyPr wrap="none" lIns="0" tIns="0" rIns="0" bIns="0" rtlCol="0" anchor="t"/>
          <a:lstStyle/>
          <a:p>
            <a:pPr marL="0" indent="0" algn="l">
              <a:lnSpc>
                <a:spcPts val="1600"/>
              </a:lnSpc>
              <a:buNone/>
            </a:pPr>
            <a:r>
              <a:rPr lang="en-US" sz="1200" dirty="0">
                <a:solidFill>
                  <a:srgbClr val="272525"/>
                </a:solidFill>
                <a:latin typeface="Lato" pitchFamily="34" charset="0"/>
                <a:ea typeface="Lato" pitchFamily="34" charset="-122"/>
                <a:cs typeface="Lato" pitchFamily="34" charset="-120"/>
              </a:rPr>
              <a:t>Launch mobile and web applications for widespread accessibility</a:t>
            </a:r>
            <a:endParaRPr lang="en-US" sz="1200" dirty="0"/>
          </a:p>
        </p:txBody>
      </p:sp>
      <p:pic>
        <p:nvPicPr>
          <p:cNvPr id="26" name="Image 4" descr="preencoded.png"/>
          <p:cNvPicPr>
            <a:picLocks noChangeAspect="1"/>
          </p:cNvPicPr>
          <p:nvPr/>
        </p:nvPicPr>
        <p:blipFill>
          <a:blip r:embed="rId11"/>
          <a:stretch>
            <a:fillRect/>
          </a:stretch>
        </p:blipFill>
        <p:spPr>
          <a:xfrm>
            <a:off x="7480698" y="1100019"/>
            <a:ext cx="5789354" cy="5789354"/>
          </a:xfrm>
          <a:prstGeom prst="rect">
            <a:avLst/>
          </a:prstGeom>
        </p:spPr>
      </p:pic>
      <p:sp>
        <p:nvSpPr>
          <p:cNvPr id="27" name="Text 20"/>
          <p:cNvSpPr/>
          <p:nvPr/>
        </p:nvSpPr>
        <p:spPr>
          <a:xfrm>
            <a:off x="510064" y="6889372"/>
            <a:ext cx="6472238" cy="809030"/>
          </a:xfrm>
          <a:prstGeom prst="rect">
            <a:avLst/>
          </a:prstGeom>
          <a:noFill/>
          <a:ln/>
        </p:spPr>
        <p:txBody>
          <a:bodyPr wrap="none" lIns="0" tIns="0" rIns="0" bIns="0" rtlCol="0" anchor="t"/>
          <a:lstStyle/>
          <a:p>
            <a:pPr marL="0" indent="0" algn="ctr">
              <a:lnSpc>
                <a:spcPts val="6350"/>
              </a:lnSpc>
              <a:buNone/>
            </a:pPr>
            <a:endParaRPr lang="en-US" sz="5050" dirty="0"/>
          </a:p>
        </p:txBody>
      </p:sp>
      <p:sp>
        <p:nvSpPr>
          <p:cNvPr id="28" name="Text 21"/>
          <p:cNvSpPr/>
          <p:nvPr/>
        </p:nvSpPr>
        <p:spPr>
          <a:xfrm>
            <a:off x="7480697" y="8823722"/>
            <a:ext cx="6639639" cy="207050"/>
          </a:xfrm>
          <a:prstGeom prst="rect">
            <a:avLst/>
          </a:prstGeom>
          <a:noFill/>
          <a:ln/>
        </p:spPr>
        <p:txBody>
          <a:bodyPr wrap="none" lIns="0" tIns="0" rIns="0" bIns="0" rtlCol="0" anchor="t"/>
          <a:lstStyle/>
          <a:p>
            <a:pPr marL="0" indent="0" algn="ctr">
              <a:lnSpc>
                <a:spcPts val="1600"/>
              </a:lnSpc>
              <a:buNone/>
            </a:pPr>
            <a:endParaRPr lang="en-US" sz="1000" dirty="0"/>
          </a:p>
        </p:txBody>
      </p:sp>
      <p:pic>
        <p:nvPicPr>
          <p:cNvPr id="29" name="Picture 28">
            <a:extLst>
              <a:ext uri="{FF2B5EF4-FFF2-40B4-BE49-F238E27FC236}">
                <a16:creationId xmlns:a16="http://schemas.microsoft.com/office/drawing/2014/main" id="{7C8416FA-1FF1-218A-F8B1-E97C89E691E1}"/>
              </a:ext>
            </a:extLst>
          </p:cNvPr>
          <p:cNvPicPr>
            <a:picLocks noChangeAspect="1"/>
          </p:cNvPicPr>
          <p:nvPr/>
        </p:nvPicPr>
        <p:blipFill>
          <a:blip r:embed="rId12"/>
          <a:stretch>
            <a:fillRect/>
          </a:stretch>
        </p:blipFill>
        <p:spPr>
          <a:xfrm>
            <a:off x="12645817" y="7382107"/>
            <a:ext cx="1984583" cy="8474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875657-A236-106E-43C0-A7BD70A73524}"/>
              </a:ext>
            </a:extLst>
          </p:cNvPr>
          <p:cNvSpPr txBox="1"/>
          <p:nvPr/>
        </p:nvSpPr>
        <p:spPr>
          <a:xfrm>
            <a:off x="3267308" y="2722622"/>
            <a:ext cx="7315200" cy="851836"/>
          </a:xfrm>
          <a:prstGeom prst="rect">
            <a:avLst/>
          </a:prstGeom>
          <a:noFill/>
        </p:spPr>
        <p:txBody>
          <a:bodyPr wrap="square">
            <a:spAutoFit/>
          </a:bodyPr>
          <a:lstStyle/>
          <a:p>
            <a:pPr marL="0" indent="0" algn="ctr">
              <a:lnSpc>
                <a:spcPts val="6350"/>
              </a:lnSpc>
              <a:buNone/>
            </a:pPr>
            <a:r>
              <a:rPr lang="en-US" sz="4000" b="1" dirty="0">
                <a:solidFill>
                  <a:srgbClr val="312F2B"/>
                </a:solidFill>
                <a:latin typeface="Garamond" panose="02020404030301010803" pitchFamily="18" charset="0"/>
                <a:ea typeface="Gelasio" pitchFamily="34" charset="-122"/>
                <a:cs typeface="Gelasio" pitchFamily="34" charset="-120"/>
              </a:rPr>
              <a:t>Thank You</a:t>
            </a:r>
            <a:endParaRPr lang="en-US" sz="4000" b="1" dirty="0">
              <a:latin typeface="Garamond" panose="02020404030301010803" pitchFamily="18" charset="0"/>
            </a:endParaRPr>
          </a:p>
        </p:txBody>
      </p:sp>
      <p:sp>
        <p:nvSpPr>
          <p:cNvPr id="5" name="TextBox 4">
            <a:extLst>
              <a:ext uri="{FF2B5EF4-FFF2-40B4-BE49-F238E27FC236}">
                <a16:creationId xmlns:a16="http://schemas.microsoft.com/office/drawing/2014/main" id="{9294159E-DE7E-7635-569E-BD9E3D25E49E}"/>
              </a:ext>
            </a:extLst>
          </p:cNvPr>
          <p:cNvSpPr txBox="1"/>
          <p:nvPr/>
        </p:nvSpPr>
        <p:spPr>
          <a:xfrm>
            <a:off x="3657600" y="3962483"/>
            <a:ext cx="7315200" cy="375809"/>
          </a:xfrm>
          <a:prstGeom prst="rect">
            <a:avLst/>
          </a:prstGeom>
          <a:noFill/>
        </p:spPr>
        <p:txBody>
          <a:bodyPr wrap="square">
            <a:spAutoFit/>
          </a:bodyPr>
          <a:lstStyle/>
          <a:p>
            <a:pPr marL="0" indent="0" algn="ctr">
              <a:lnSpc>
                <a:spcPts val="1600"/>
              </a:lnSpc>
              <a:buNone/>
            </a:pPr>
            <a:r>
              <a:rPr lang="en-US" sz="3600" b="1" dirty="0">
                <a:solidFill>
                  <a:srgbClr val="272525"/>
                </a:solidFill>
                <a:latin typeface="Garamond" panose="02020404030301010803" pitchFamily="18" charset="0"/>
                <a:ea typeface="Lato" pitchFamily="34" charset="-122"/>
                <a:cs typeface="Lato" pitchFamily="34" charset="-120"/>
              </a:rPr>
              <a:t>Questions are welcome</a:t>
            </a:r>
            <a:endParaRPr lang="en-US" sz="3600" b="1" dirty="0">
              <a:latin typeface="Garamond" panose="02020404030301010803" pitchFamily="18" charset="0"/>
            </a:endParaRPr>
          </a:p>
        </p:txBody>
      </p:sp>
      <p:pic>
        <p:nvPicPr>
          <p:cNvPr id="1026" name="Picture 2" descr="Education Presentation Thank You Slide 21 - SlideKit">
            <a:extLst>
              <a:ext uri="{FF2B5EF4-FFF2-40B4-BE49-F238E27FC236}">
                <a16:creationId xmlns:a16="http://schemas.microsoft.com/office/drawing/2014/main" id="{9808B8AC-4A80-3288-3C80-84E2D19EC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630400" cy="822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257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933</Words>
  <Application>Microsoft Office PowerPoint</Application>
  <PresentationFormat>Custom</PresentationFormat>
  <Paragraphs>137</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Lato</vt:lpstr>
      <vt:lpstr>Arial</vt:lpstr>
      <vt:lpstr>Gelasio</vt:lpstr>
      <vt:lpstr>Gelasio Light</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Dhwani Chauhan</dc:creator>
  <cp:lastModifiedBy>Dhwani Chauhan</cp:lastModifiedBy>
  <cp:revision>3</cp:revision>
  <dcterms:created xsi:type="dcterms:W3CDTF">2025-11-14T18:32:19Z</dcterms:created>
  <dcterms:modified xsi:type="dcterms:W3CDTF">2025-11-14T18:59:45Z</dcterms:modified>
</cp:coreProperties>
</file>